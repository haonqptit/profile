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9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34"/>
    <p:restoredTop sz="94707"/>
  </p:normalViewPr>
  <p:slideViewPr>
    <p:cSldViewPr snapToGrid="0" snapToObjects="1">
      <p:cViewPr varScale="1">
        <p:scale>
          <a:sx n="67" d="100"/>
          <a:sy n="67" d="100"/>
        </p:scale>
        <p:origin x="99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DC4406-C435-5F40-8935-F0AB8EE03C24}" type="datetimeFigureOut">
              <a:rPr kumimoji="1" lang="ko-Kore-KR" altLang="en-US" smtClean="0"/>
              <a:t>10/10/2026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1FE0D2-D69F-A14A-8601-C794EF864810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19742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19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73568" y="1448207"/>
            <a:ext cx="6956584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ko-KR" altLang="en-US" sz="2800" b="1" i="0" u="none" dirty="0">
                <a:solidFill>
                  <a:srgbClr val="60A5FA"/>
                </a:solidFill>
                <a:latin typeface="Noto Sans KR"/>
              </a:rPr>
              <a:t>텍스트 감성 분석</a:t>
            </a:r>
            <a:r>
              <a:rPr lang="ko-KR" altLang="en-US" sz="2800" b="1" i="0" u="none" dirty="0">
                <a:solidFill>
                  <a:srgbClr val="FFFFFF"/>
                </a:solidFill>
                <a:latin typeface="Noto Sans KR"/>
              </a:rPr>
              <a:t> 모델 구축 </a:t>
            </a:r>
            <a:endParaRPr lang="vi-VN" altLang="ko-KR" sz="2800" b="1" i="0" u="none" dirty="0">
              <a:solidFill>
                <a:srgbClr val="FFFFFF"/>
              </a:solidFill>
              <a:latin typeface="Noto Sans KR"/>
            </a:endParaRPr>
          </a:p>
          <a:p>
            <a:r>
              <a:rPr sz="2800" dirty="0">
                <a:solidFill>
                  <a:srgbClr val="CDDCF0"/>
                </a:solidFill>
              </a:rPr>
              <a:t>Deep Learning Model using Bidirectional LSTM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0FA9C4-C909-72FA-1C08-8370EC7EFAD5}"/>
              </a:ext>
            </a:extLst>
          </p:cNvPr>
          <p:cNvSpPr txBox="1"/>
          <p:nvPr/>
        </p:nvSpPr>
        <p:spPr>
          <a:xfrm>
            <a:off x="609600" y="6001506"/>
            <a:ext cx="173124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ko-KR" altLang="en-US" sz="1350" b="1" i="0" u="none" dirty="0">
                <a:solidFill>
                  <a:srgbClr val="FFFFFF"/>
                </a:solidFill>
                <a:latin typeface="Noto Sans KR"/>
              </a:rPr>
              <a:t>컴퓨터</a:t>
            </a:r>
            <a:r>
              <a:rPr sz="1350" b="1" i="0" u="none" dirty="0" err="1">
                <a:solidFill>
                  <a:srgbClr val="FFFFFF"/>
                </a:solidFill>
                <a:latin typeface="Noto Sans KR"/>
              </a:rPr>
              <a:t>소프트웨어학과</a:t>
            </a:r>
            <a:endParaRPr sz="1350" b="1" i="0" u="none" dirty="0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F2CF0B-20FC-2A57-8D6A-BBC4E31CF378}"/>
              </a:ext>
            </a:extLst>
          </p:cNvPr>
          <p:cNvSpPr txBox="1"/>
          <p:nvPr/>
        </p:nvSpPr>
        <p:spPr>
          <a:xfrm>
            <a:off x="609600" y="6342982"/>
            <a:ext cx="230832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 err="1">
                <a:solidFill>
                  <a:srgbClr val="FFFFFF"/>
                </a:solidFill>
                <a:latin typeface="Noto Sans KR"/>
              </a:rPr>
              <a:t>응웬뚜린</a:t>
            </a:r>
            <a:r>
              <a:rPr lang="vi-VN" sz="1350" b="1" i="0" u="none" dirty="0">
                <a:solidFill>
                  <a:srgbClr val="FFFFFF"/>
                </a:solidFill>
                <a:latin typeface="Noto Sans KR"/>
              </a:rPr>
              <a:t>/202404042</a:t>
            </a:r>
            <a:r>
              <a:rPr lang="en-US" sz="1350" b="1" i="0" u="none" dirty="0">
                <a:solidFill>
                  <a:srgbClr val="FFFFFF"/>
                </a:solidFill>
                <a:latin typeface="Noto Sans KR"/>
              </a:rPr>
              <a:t>		</a:t>
            </a:r>
            <a:endParaRPr sz="1350" b="1" i="0" u="none" dirty="0">
              <a:solidFill>
                <a:srgbClr val="FFFFFF"/>
              </a:solidFill>
              <a:latin typeface="Noto Sans KR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DECCD396-012B-0069-4A0A-61A1393B67CE}"/>
              </a:ext>
            </a:extLst>
          </p:cNvPr>
          <p:cNvSpPr/>
          <p:nvPr/>
        </p:nvSpPr>
        <p:spPr>
          <a:xfrm>
            <a:off x="609600" y="5724525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6B3C36-9887-2E0A-C4DD-45E074CEE841}"/>
              </a:ext>
            </a:extLst>
          </p:cNvPr>
          <p:cNvSpPr txBox="1"/>
          <p:nvPr/>
        </p:nvSpPr>
        <p:spPr>
          <a:xfrm>
            <a:off x="8402129" y="5889936"/>
            <a:ext cx="3180271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 i="0" u="none" dirty="0" err="1">
                <a:solidFill>
                  <a:srgbClr val="94A3B8"/>
                </a:solidFill>
                <a:latin typeface="Noto Sans KR"/>
              </a:rPr>
              <a:t>분류</a:t>
            </a:r>
            <a:r>
              <a:rPr sz="1400" b="0" i="0" u="none" dirty="0">
                <a:solidFill>
                  <a:srgbClr val="94A3B8"/>
                </a:solidFill>
                <a:latin typeface="Noto Sans KR"/>
              </a:rPr>
              <a:t> </a:t>
            </a:r>
            <a:r>
              <a:rPr sz="1400" b="0" i="0" u="none" dirty="0" err="1">
                <a:solidFill>
                  <a:srgbClr val="94A3B8"/>
                </a:solidFill>
                <a:latin typeface="Noto Sans KR"/>
              </a:rPr>
              <a:t>모델</a:t>
            </a:r>
            <a:r>
              <a:rPr sz="1400" b="0" i="0" u="none" dirty="0">
                <a:solidFill>
                  <a:srgbClr val="94A3B8"/>
                </a:solidFill>
                <a:latin typeface="Noto Sans KR"/>
              </a:rPr>
              <a:t>: Positive / Neutral / Negative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271075" y="704850"/>
            <a:ext cx="1311324" cy="28575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106959"/>
            <a:ext cx="3505200" cy="3596431"/>
          </a:xfrm>
          <a:prstGeom prst="roundRect">
            <a:avLst>
              <a:gd name="adj" fmla="val 43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244030"/>
            <a:ext cx="3505200" cy="3322141"/>
          </a:xfrm>
          <a:prstGeom prst="roundRect">
            <a:avLst>
              <a:gd name="adj" fmla="val 458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244030"/>
            <a:ext cx="3505200" cy="3322141"/>
          </a:xfrm>
          <a:prstGeom prst="roundRect">
            <a:avLst>
              <a:gd name="adj" fmla="val 458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590" y="2421284"/>
            <a:ext cx="447869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2558355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2558355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525" y="2557254"/>
            <a:ext cx="177849" cy="185259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7325" y="2698030"/>
            <a:ext cx="177849" cy="177849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31125" y="2698030"/>
            <a:ext cx="177849" cy="17784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404425" y="762000"/>
            <a:ext cx="1139874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Noto Sans KR"/>
              </a:rPr>
              <a:t>연구 배경 및 목표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47700"/>
            <a:ext cx="4542364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1" i="0" u="none" dirty="0" err="1">
                <a:solidFill>
                  <a:srgbClr val="0F172A"/>
                </a:solidFill>
                <a:latin typeface="Noto Sans KR"/>
              </a:rPr>
              <a:t>프로젝트</a:t>
            </a:r>
            <a:r>
              <a:rPr sz="2250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2250" b="1" i="0" u="none" dirty="0" err="1">
                <a:solidFill>
                  <a:srgbClr val="0F172A"/>
                </a:solidFill>
                <a:latin typeface="Noto Sans KR"/>
              </a:rPr>
              <a:t>개요</a:t>
            </a:r>
            <a:r>
              <a:rPr sz="2250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2250" b="1" i="0" u="none" dirty="0" err="1">
                <a:solidFill>
                  <a:srgbClr val="0F172A"/>
                </a:solidFill>
                <a:latin typeface="Noto Sans KR"/>
              </a:rPr>
              <a:t>및</a:t>
            </a:r>
            <a:r>
              <a:rPr sz="2250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2250" b="1" i="0" u="none" dirty="0" err="1">
                <a:solidFill>
                  <a:srgbClr val="0F172A"/>
                </a:solidFill>
                <a:latin typeface="Noto Sans KR"/>
              </a:rPr>
              <a:t>핵심</a:t>
            </a:r>
            <a:r>
              <a:rPr sz="2250" b="1" i="0" u="none" dirty="0">
                <a:solidFill>
                  <a:srgbClr val="0F172A"/>
                </a:solidFill>
                <a:latin typeface="Noto Sans KR"/>
              </a:rPr>
              <a:t> </a:t>
            </a:r>
            <a:r>
              <a:rPr sz="2250" b="1" i="0" u="none" dirty="0" err="1">
                <a:solidFill>
                  <a:srgbClr val="0F172A"/>
                </a:solidFill>
                <a:latin typeface="Noto Sans KR"/>
              </a:rPr>
              <a:t>목표</a:t>
            </a:r>
            <a:endParaRPr sz="2250" b="1" i="0" u="none" dirty="0">
              <a:solidFill>
                <a:srgbClr val="0F172A"/>
              </a:solidFill>
              <a:latin typeface="Noto Sans K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23925" y="3068984"/>
            <a:ext cx="3775471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KR"/>
              </a:rPr>
              <a:t>배경 및 필요성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3469034"/>
            <a:ext cx="2971800" cy="1118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 err="1">
                <a:solidFill>
                  <a:srgbClr val="475569"/>
                </a:solidFill>
                <a:latin typeface="Noto Sans KR"/>
              </a:rPr>
              <a:t>텍스트</a:t>
            </a:r>
            <a:r>
              <a:rPr sz="1350" b="1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350" b="1" i="0" u="none" dirty="0" err="1">
                <a:solidFill>
                  <a:srgbClr val="475569"/>
                </a:solidFill>
                <a:latin typeface="Noto Sans KR"/>
              </a:rPr>
              <a:t>감성</a:t>
            </a:r>
            <a:r>
              <a:rPr sz="1350" b="1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350" b="1" i="0" u="none" dirty="0" err="1">
                <a:solidFill>
                  <a:srgbClr val="475569"/>
                </a:solidFill>
                <a:latin typeface="Noto Sans KR"/>
              </a:rPr>
              <a:t>분석</a:t>
            </a:r>
            <a:r>
              <a:rPr sz="1350" b="1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350" b="1" i="0" u="none" dirty="0" err="1">
                <a:solidFill>
                  <a:srgbClr val="475569"/>
                </a:solidFill>
                <a:latin typeface="Noto Sans KR"/>
              </a:rPr>
              <a:t>수요</a:t>
            </a:r>
            <a:r>
              <a:rPr sz="1350" b="1" i="0" u="none" dirty="0">
                <a:solidFill>
                  <a:srgbClr val="475569"/>
                </a:solidFill>
                <a:latin typeface="Noto Sans KR"/>
              </a:rPr>
              <a:t>:</a:t>
            </a:r>
            <a:r>
              <a:rPr sz="1350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lang="ko-KR" altLang="en-US" sz="1350" b="0" i="0" u="none" dirty="0">
                <a:solidFill>
                  <a:srgbClr val="475569"/>
                </a:solidFill>
                <a:latin typeface="Noto Sans KR"/>
              </a:rPr>
              <a:t>소셜 미디어 텍스트에서 감성 정보 추출 필요성 증가</a:t>
            </a:r>
            <a:r>
              <a:rPr dirty="0"/>
              <a:t>
</a:t>
            </a:r>
            <a:endParaRPr sz="1350" b="0" i="0" u="none" dirty="0">
              <a:solidFill>
                <a:srgbClr val="475569"/>
              </a:solidFill>
              <a:latin typeface="Noto Sans K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57725" y="3206055"/>
            <a:ext cx="3775471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KR"/>
              </a:rPr>
              <a:t>프로젝트 목표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7725" y="3606105"/>
            <a:ext cx="2971800" cy="1666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475569"/>
                </a:solidFill>
                <a:latin typeface="Noto Sans KR"/>
              </a:rPr>
              <a:t>Bi-LSTM </a:t>
            </a:r>
            <a:r>
              <a:rPr sz="1350" b="1" i="0" u="none" dirty="0" err="1">
                <a:solidFill>
                  <a:srgbClr val="475569"/>
                </a:solidFill>
                <a:latin typeface="Noto Sans KR"/>
              </a:rPr>
              <a:t>감성</a:t>
            </a:r>
            <a:r>
              <a:rPr sz="1350" b="1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350" b="1" i="0" u="none" dirty="0" err="1">
                <a:solidFill>
                  <a:srgbClr val="475569"/>
                </a:solidFill>
                <a:latin typeface="Noto Sans KR"/>
              </a:rPr>
              <a:t>분류기</a:t>
            </a:r>
            <a:r>
              <a:rPr sz="1350" b="1" i="0" u="none" dirty="0">
                <a:solidFill>
                  <a:srgbClr val="475569"/>
                </a:solidFill>
                <a:latin typeface="Noto Sans KR"/>
              </a:rPr>
              <a:t>:</a:t>
            </a:r>
            <a:r>
              <a:rPr sz="1350" b="0" i="0" u="none" dirty="0">
                <a:solidFill>
                  <a:srgbClr val="475569"/>
                </a:solidFill>
                <a:latin typeface="Noto Sans KR"/>
              </a:rPr>
              <a:t> TensorFlow/</a:t>
            </a:r>
            <a:r>
              <a:rPr sz="1350" b="0" i="0" u="none" dirty="0" err="1">
                <a:solidFill>
                  <a:srgbClr val="475569"/>
                </a:solidFill>
                <a:latin typeface="Noto Sans KR"/>
              </a:rPr>
              <a:t>Keras</a:t>
            </a:r>
            <a:r>
              <a:rPr sz="1350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Noto Sans KR"/>
              </a:rPr>
              <a:t>기반</a:t>
            </a:r>
            <a:r>
              <a:rPr sz="1350" b="0" i="0" u="none" dirty="0">
                <a:solidFill>
                  <a:srgbClr val="475569"/>
                </a:solidFill>
                <a:latin typeface="Noto Sans KR"/>
              </a:rPr>
              <a:t> 3-Class (Positive/Neutral/Negative) </a:t>
            </a:r>
            <a:r>
              <a:rPr sz="1350" b="0" i="0" u="none" dirty="0" err="1">
                <a:solidFill>
                  <a:srgbClr val="475569"/>
                </a:solidFill>
                <a:latin typeface="Noto Sans KR"/>
              </a:rPr>
              <a:t>구축</a:t>
            </a:r>
            <a:r>
              <a:rPr sz="1350" b="0" i="0" u="none" dirty="0">
                <a:solidFill>
                  <a:srgbClr val="475569"/>
                </a:solidFill>
                <a:latin typeface="Noto Sans KR"/>
              </a:rPr>
              <a:t>.</a:t>
            </a:r>
            <a:r>
              <a:rPr dirty="0"/>
              <a:t>
</a:t>
            </a:r>
            <a:r>
              <a:rPr sz="1350" b="1" i="0" u="none" dirty="0" err="1">
                <a:solidFill>
                  <a:srgbClr val="475569"/>
                </a:solidFill>
                <a:latin typeface="Noto Sans KR"/>
              </a:rPr>
              <a:t>양방향</a:t>
            </a:r>
            <a:r>
              <a:rPr sz="1350" b="1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350" b="1" i="0" u="none" dirty="0" err="1">
                <a:solidFill>
                  <a:srgbClr val="475569"/>
                </a:solidFill>
                <a:latin typeface="Noto Sans KR"/>
              </a:rPr>
              <a:t>문맥</a:t>
            </a:r>
            <a:r>
              <a:rPr sz="1350" b="1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350" b="1" i="0" u="none" dirty="0" err="1">
                <a:solidFill>
                  <a:srgbClr val="475569"/>
                </a:solidFill>
                <a:latin typeface="Noto Sans KR"/>
              </a:rPr>
              <a:t>학습</a:t>
            </a:r>
            <a:r>
              <a:rPr sz="1350" b="1" i="0" u="none" dirty="0">
                <a:solidFill>
                  <a:srgbClr val="475569"/>
                </a:solidFill>
                <a:latin typeface="Noto Sans KR"/>
              </a:rPr>
              <a:t>:</a:t>
            </a:r>
            <a:r>
              <a:rPr lang="ko-KR" altLang="en-US" sz="1350" b="0" i="0" u="none" dirty="0">
                <a:solidFill>
                  <a:srgbClr val="475569"/>
                </a:solidFill>
                <a:latin typeface="Noto Sans KR"/>
              </a:rPr>
              <a:t> 문장의 전후 맥락을 함께 학습하여 감정 분류 수행</a:t>
            </a:r>
            <a:r>
              <a:rPr lang="en-US" altLang="ko-Kore-KR" sz="1350" b="0" i="0" u="none" dirty="0">
                <a:solidFill>
                  <a:srgbClr val="475569"/>
                </a:solidFill>
                <a:latin typeface="Noto Sans KR"/>
              </a:rPr>
              <a:t>.</a:t>
            </a:r>
            <a:endParaRPr sz="1350" b="0" i="0" u="none" dirty="0">
              <a:solidFill>
                <a:srgbClr val="475569"/>
              </a:solidFill>
              <a:latin typeface="Noto Sans K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91525" y="3206055"/>
            <a:ext cx="3775471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Noto Sans KR"/>
              </a:rPr>
              <a:t>핵심 수행 내용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1525" y="3606105"/>
            <a:ext cx="2971800" cy="1645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475569"/>
                </a:solidFill>
                <a:latin typeface="Noto Sans KR"/>
              </a:rPr>
              <a:t>과적합(Overfitting) 제어:</a:t>
            </a:r>
            <a:r>
              <a:rPr sz="1350" b="0" i="0" u="none">
                <a:solidFill>
                  <a:srgbClr val="475569"/>
                </a:solidFill>
                <a:latin typeface="Noto Sans KR"/>
              </a:rPr>
              <a:t> SpatialDropout1D, L2 규제, EarlyStopping 통합 적용.</a:t>
            </a:r>
            <a:r>
              <a:t>
</a:t>
            </a:r>
            <a:r>
              <a:rPr sz="1350" b="1" i="0" u="none">
                <a:solidFill>
                  <a:srgbClr val="475569"/>
                </a:solidFill>
                <a:latin typeface="Noto Sans KR"/>
              </a:rPr>
              <a:t>실전 검증:</a:t>
            </a:r>
            <a:r>
              <a:rPr sz="1350" b="0" i="0" u="none">
                <a:solidFill>
                  <a:srgbClr val="475569"/>
                </a:solidFill>
                <a:latin typeface="Noto Sans KR"/>
              </a:rPr>
              <a:t> Test Dataset 평가 및 실제 입력 문장 감성 예측 테스트 완료.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3491" y="11887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53D"/>
                </a:solidFill>
              </a:rPr>
              <a:t>2. 데이터셋</a:t>
            </a: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1D2A4CBC-9645-884E-F177-B75105E4C2D1}"/>
              </a:ext>
            </a:extLst>
          </p:cNvPr>
          <p:cNvGrpSpPr/>
          <p:nvPr/>
        </p:nvGrpSpPr>
        <p:grpSpPr>
          <a:xfrm>
            <a:off x="551841" y="1245969"/>
            <a:ext cx="3200400" cy="1463040"/>
            <a:chOff x="731520" y="1371600"/>
            <a:chExt cx="3200400" cy="1463040"/>
          </a:xfrm>
        </p:grpSpPr>
        <p:sp>
          <p:nvSpPr>
            <p:cNvPr id="4" name="Rounded Rectangle 3"/>
            <p:cNvSpPr/>
            <p:nvPr/>
          </p:nvSpPr>
          <p:spPr>
            <a:xfrm>
              <a:off x="731520" y="1371600"/>
              <a:ext cx="3200400" cy="1463040"/>
            </a:xfrm>
            <a:prstGeom prst="roundRect">
              <a:avLst/>
            </a:prstGeom>
            <a:solidFill>
              <a:srgbClr val="F2F6FB"/>
            </a:solidFill>
            <a:ln>
              <a:solidFill>
                <a:srgbClr val="DCE5F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32688" y="1517904"/>
              <a:ext cx="2798064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>
                  <a:solidFill>
                    <a:srgbClr val="3D70C4"/>
                  </a:solidFill>
                </a:rPr>
                <a:t>전체 데이터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32688" y="1874519"/>
              <a:ext cx="2798064" cy="5943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2400" b="1">
                  <a:solidFill>
                    <a:srgbClr val="19253D"/>
                  </a:solidFill>
                </a:rPr>
                <a:t>59,899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32688" y="2468880"/>
              <a:ext cx="2798064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000">
                  <a:solidFill>
                    <a:srgbClr val="28303C"/>
                  </a:solidFill>
                </a:rPr>
                <a:t>train + validation + test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FEDA617-AA10-D99A-4A70-A4E11EAD41F8}"/>
              </a:ext>
            </a:extLst>
          </p:cNvPr>
          <p:cNvGrpSpPr/>
          <p:nvPr/>
        </p:nvGrpSpPr>
        <p:grpSpPr>
          <a:xfrm>
            <a:off x="4146422" y="1245969"/>
            <a:ext cx="3200400" cy="1463040"/>
            <a:chOff x="4297680" y="1371600"/>
            <a:chExt cx="3200400" cy="1463040"/>
          </a:xfrm>
        </p:grpSpPr>
        <p:sp>
          <p:nvSpPr>
            <p:cNvPr id="8" name="Rounded Rectangle 7"/>
            <p:cNvSpPr/>
            <p:nvPr/>
          </p:nvSpPr>
          <p:spPr>
            <a:xfrm>
              <a:off x="4297680" y="1371600"/>
              <a:ext cx="3200400" cy="1463040"/>
            </a:xfrm>
            <a:prstGeom prst="roundRect">
              <a:avLst/>
            </a:prstGeom>
            <a:solidFill>
              <a:srgbClr val="F2F6FB"/>
            </a:solidFill>
            <a:ln>
              <a:solidFill>
                <a:srgbClr val="DCE5F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498848" y="1517904"/>
              <a:ext cx="2798064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>
                  <a:solidFill>
                    <a:srgbClr val="39825B"/>
                  </a:solidFill>
                </a:rPr>
                <a:t>원본 Train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498848" y="1874519"/>
              <a:ext cx="2798064" cy="5943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2400" b="1" dirty="0">
                  <a:solidFill>
                    <a:srgbClr val="19253D"/>
                  </a:solidFill>
                </a:rPr>
                <a:t>45,615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8C2DC987-2696-1803-6112-431EA8844615}"/>
              </a:ext>
            </a:extLst>
          </p:cNvPr>
          <p:cNvGrpSpPr/>
          <p:nvPr/>
        </p:nvGrpSpPr>
        <p:grpSpPr>
          <a:xfrm>
            <a:off x="7741003" y="1228269"/>
            <a:ext cx="3200400" cy="1463040"/>
            <a:chOff x="7741003" y="941405"/>
            <a:chExt cx="3200400" cy="1463040"/>
          </a:xfrm>
        </p:grpSpPr>
        <p:sp>
          <p:nvSpPr>
            <p:cNvPr id="11" name="Rounded Rectangle 10"/>
            <p:cNvSpPr/>
            <p:nvPr/>
          </p:nvSpPr>
          <p:spPr>
            <a:xfrm>
              <a:off x="7741003" y="941405"/>
              <a:ext cx="3200400" cy="1463040"/>
            </a:xfrm>
            <a:prstGeom prst="roundRect">
              <a:avLst/>
            </a:prstGeom>
            <a:solidFill>
              <a:srgbClr val="F2F6FB"/>
            </a:solidFill>
            <a:ln>
              <a:solidFill>
                <a:srgbClr val="DCE5F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942171" y="1087709"/>
              <a:ext cx="2798064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 dirty="0" err="1">
                  <a:solidFill>
                    <a:srgbClr val="DE8B37"/>
                  </a:solidFill>
                </a:rPr>
                <a:t>원본</a:t>
              </a:r>
              <a:r>
                <a:rPr sz="1200" b="1" dirty="0">
                  <a:solidFill>
                    <a:srgbClr val="DE8B37"/>
                  </a:solidFill>
                </a:rPr>
                <a:t> Test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942171" y="1444324"/>
              <a:ext cx="2798064" cy="5943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2400" b="1" dirty="0">
                  <a:solidFill>
                    <a:srgbClr val="19253D"/>
                  </a:solidFill>
                </a:rPr>
                <a:t>12,284</a:t>
              </a:r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DB19B814-F526-CE04-432E-AB7D9567F21F}"/>
              </a:ext>
            </a:extLst>
          </p:cNvPr>
          <p:cNvGrpSpPr/>
          <p:nvPr/>
        </p:nvGrpSpPr>
        <p:grpSpPr>
          <a:xfrm>
            <a:off x="551841" y="2940539"/>
            <a:ext cx="3200400" cy="1463040"/>
            <a:chOff x="2514600" y="3246120"/>
            <a:chExt cx="3200400" cy="1463040"/>
          </a:xfrm>
        </p:grpSpPr>
        <p:sp>
          <p:nvSpPr>
            <p:cNvPr id="14" name="Rounded Rectangle 13"/>
            <p:cNvSpPr/>
            <p:nvPr/>
          </p:nvSpPr>
          <p:spPr>
            <a:xfrm>
              <a:off x="2514600" y="3246120"/>
              <a:ext cx="3200400" cy="1463040"/>
            </a:xfrm>
            <a:prstGeom prst="roundRect">
              <a:avLst/>
            </a:prstGeom>
            <a:solidFill>
              <a:srgbClr val="F2F6FB"/>
            </a:solidFill>
            <a:ln>
              <a:solidFill>
                <a:srgbClr val="DCE5F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2715768" y="3392424"/>
              <a:ext cx="2798064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 dirty="0">
                  <a:solidFill>
                    <a:srgbClr val="3D70C4"/>
                  </a:solidFill>
                </a:rPr>
                <a:t>Validation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715768" y="3749039"/>
              <a:ext cx="2798064" cy="5943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2400" b="1" dirty="0">
                  <a:solidFill>
                    <a:srgbClr val="19253D"/>
                  </a:solidFill>
                </a:rPr>
                <a:t>2,000</a:t>
              </a: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3D46F5AC-615E-0BC6-A88B-9C8936FB78BC}"/>
              </a:ext>
            </a:extLst>
          </p:cNvPr>
          <p:cNvGrpSpPr/>
          <p:nvPr/>
        </p:nvGrpSpPr>
        <p:grpSpPr>
          <a:xfrm>
            <a:off x="4157173" y="2941632"/>
            <a:ext cx="3200400" cy="1463040"/>
            <a:chOff x="6080760" y="3246120"/>
            <a:chExt cx="3200400" cy="1463040"/>
          </a:xfrm>
        </p:grpSpPr>
        <p:sp>
          <p:nvSpPr>
            <p:cNvPr id="17" name="Rounded Rectangle 16"/>
            <p:cNvSpPr/>
            <p:nvPr/>
          </p:nvSpPr>
          <p:spPr>
            <a:xfrm>
              <a:off x="6080760" y="3246120"/>
              <a:ext cx="3200400" cy="1463040"/>
            </a:xfrm>
            <a:prstGeom prst="roundRect">
              <a:avLst/>
            </a:prstGeom>
            <a:solidFill>
              <a:srgbClr val="F2F6FB"/>
            </a:solidFill>
            <a:ln>
              <a:solidFill>
                <a:srgbClr val="DCE5F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281928" y="3392424"/>
              <a:ext cx="2798064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200" b="1" dirty="0" err="1">
                  <a:solidFill>
                    <a:srgbClr val="BE4848"/>
                  </a:solidFill>
                </a:rPr>
                <a:t>클래스</a:t>
              </a:r>
              <a:endParaRPr sz="1200" b="1" dirty="0">
                <a:solidFill>
                  <a:srgbClr val="BE4848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281928" y="3749039"/>
              <a:ext cx="2798064" cy="59436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2400" b="1">
                  <a:solidFill>
                    <a:srgbClr val="19253D"/>
                  </a:solidFill>
                </a:rPr>
                <a:t>3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281928" y="4343400"/>
              <a:ext cx="2798064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sz="1000">
                  <a:solidFill>
                    <a:srgbClr val="28303C"/>
                  </a:solidFill>
                </a:rPr>
                <a:t>0 / 1 / 2</a:t>
              </a:r>
            </a:p>
          </p:txBody>
        </p:sp>
      </p:grpSp>
      <p:sp>
        <p:nvSpPr>
          <p:cNvPr id="22" name="Rectangle 21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28C9B"/>
                </a:solidFill>
              </a:rPr>
              <a:t>3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F9446EEB-9456-C641-A84F-DE6ECCEBB828}"/>
              </a:ext>
            </a:extLst>
          </p:cNvPr>
          <p:cNvGrpSpPr/>
          <p:nvPr/>
        </p:nvGrpSpPr>
        <p:grpSpPr>
          <a:xfrm>
            <a:off x="7741003" y="3009118"/>
            <a:ext cx="9069413" cy="1463040"/>
            <a:chOff x="7357573" y="2697480"/>
            <a:chExt cx="9069413" cy="1463040"/>
          </a:xfrm>
        </p:grpSpPr>
        <p:sp>
          <p:nvSpPr>
            <p:cNvPr id="38" name="Rounded Rectangle 10">
              <a:extLst>
                <a:ext uri="{FF2B5EF4-FFF2-40B4-BE49-F238E27FC236}">
                  <a16:creationId xmlns:a16="http://schemas.microsoft.com/office/drawing/2014/main" id="{B76F2C7A-492F-AA5D-CB23-B2405FFA4341}"/>
                </a:ext>
              </a:extLst>
            </p:cNvPr>
            <p:cNvSpPr/>
            <p:nvPr/>
          </p:nvSpPr>
          <p:spPr>
            <a:xfrm>
              <a:off x="7357573" y="2697480"/>
              <a:ext cx="3200400" cy="1463040"/>
            </a:xfrm>
            <a:prstGeom prst="roundRect">
              <a:avLst/>
            </a:prstGeom>
            <a:solidFill>
              <a:srgbClr val="F2F6FB"/>
            </a:solidFill>
            <a:ln>
              <a:solidFill>
                <a:srgbClr val="DCE5F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3FBF455A-D417-F90F-7BA1-D13D040647B3}"/>
                </a:ext>
              </a:extLst>
            </p:cNvPr>
            <p:cNvGrpSpPr/>
            <p:nvPr/>
          </p:nvGrpSpPr>
          <p:grpSpPr>
            <a:xfrm>
              <a:off x="7697770" y="2806542"/>
              <a:ext cx="8729216" cy="1157305"/>
              <a:chOff x="8034783" y="2803926"/>
              <a:chExt cx="8729216" cy="1157305"/>
            </a:xfrm>
          </p:grpSpPr>
          <p:sp>
            <p:nvSpPr>
              <p:cNvPr id="26" name="Rectangle 12">
                <a:extLst>
                  <a:ext uri="{FF2B5EF4-FFF2-40B4-BE49-F238E27FC236}">
                    <a16:creationId xmlns:a16="http://schemas.microsoft.com/office/drawing/2014/main" id="{D53E28E7-BECC-C336-3F1E-71D5570F5231}"/>
                  </a:ext>
                </a:extLst>
              </p:cNvPr>
              <p:cNvSpPr/>
              <p:nvPr/>
            </p:nvSpPr>
            <p:spPr>
              <a:xfrm>
                <a:off x="8034783" y="3083572"/>
                <a:ext cx="1705974" cy="160283"/>
              </a:xfrm>
              <a:prstGeom prst="rect">
                <a:avLst/>
              </a:prstGeom>
              <a:solidFill>
                <a:srgbClr val="16A34A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Rectangle 13">
                <a:extLst>
                  <a:ext uri="{FF2B5EF4-FFF2-40B4-BE49-F238E27FC236}">
                    <a16:creationId xmlns:a16="http://schemas.microsoft.com/office/drawing/2014/main" id="{A9EA19B4-D8C0-6E22-3B8C-4F52624DA22F}"/>
                  </a:ext>
                </a:extLst>
              </p:cNvPr>
              <p:cNvSpPr/>
              <p:nvPr/>
            </p:nvSpPr>
            <p:spPr>
              <a:xfrm>
                <a:off x="8034783" y="3466159"/>
                <a:ext cx="1705974" cy="157558"/>
              </a:xfrm>
              <a:prstGeom prst="rect">
                <a:avLst/>
              </a:prstGeom>
              <a:solidFill>
                <a:srgbClr val="EAB308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Rectangle 14">
                <a:extLst>
                  <a:ext uri="{FF2B5EF4-FFF2-40B4-BE49-F238E27FC236}">
                    <a16:creationId xmlns:a16="http://schemas.microsoft.com/office/drawing/2014/main" id="{1DC03F12-313C-97BF-1FE2-9F330AC2A319}"/>
                  </a:ext>
                </a:extLst>
              </p:cNvPr>
              <p:cNvSpPr/>
              <p:nvPr/>
            </p:nvSpPr>
            <p:spPr>
              <a:xfrm>
                <a:off x="8034783" y="3820412"/>
                <a:ext cx="1705974" cy="140819"/>
              </a:xfrm>
              <a:prstGeom prst="rect">
                <a:avLst/>
              </a:prstGeom>
              <a:solidFill>
                <a:srgbClr val="DC262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EB1D466-B848-29AF-FB13-31FEF018C31F}"/>
                  </a:ext>
                </a:extLst>
              </p:cNvPr>
              <p:cNvSpPr txBox="1"/>
              <p:nvPr/>
            </p:nvSpPr>
            <p:spPr>
              <a:xfrm>
                <a:off x="8086389" y="2803926"/>
                <a:ext cx="8677610" cy="1289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200" b="1" i="0" u="none" dirty="0">
                    <a:solidFill>
                      <a:srgbClr val="64748B"/>
                    </a:solidFill>
                    <a:latin typeface="Noto Sans KR"/>
                  </a:rPr>
                  <a:t>CLASS DISTRIBUTION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FAA1051-720B-4710-1188-C0636909725B}"/>
                  </a:ext>
                </a:extLst>
              </p:cNvPr>
              <p:cNvSpPr txBox="1"/>
              <p:nvPr/>
            </p:nvSpPr>
            <p:spPr>
              <a:xfrm>
                <a:off x="8100150" y="3047424"/>
                <a:ext cx="1202527" cy="1289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200" b="1" i="0" u="none" dirty="0">
                    <a:solidFill>
                      <a:srgbClr val="0F172A"/>
                    </a:solidFill>
                    <a:latin typeface="Noto Sans KR"/>
                  </a:rPr>
                  <a:t>Positive (Label 2)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C27C733-68DA-20DA-10FB-9D94020CAE4E}"/>
                  </a:ext>
                </a:extLst>
              </p:cNvPr>
              <p:cNvSpPr txBox="1"/>
              <p:nvPr/>
            </p:nvSpPr>
            <p:spPr>
              <a:xfrm>
                <a:off x="8086389" y="3419834"/>
                <a:ext cx="1145556" cy="1289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200" b="1" i="0" u="none" dirty="0">
                    <a:solidFill>
                      <a:srgbClr val="0F172A"/>
                    </a:solidFill>
                    <a:latin typeface="Noto Sans KR"/>
                  </a:rPr>
                  <a:t>Neutral (Label 1)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13856CBF-7801-CA67-7639-02A6C9E424F3}"/>
                  </a:ext>
                </a:extLst>
              </p:cNvPr>
              <p:cNvSpPr txBox="1"/>
              <p:nvPr/>
            </p:nvSpPr>
            <p:spPr>
              <a:xfrm>
                <a:off x="8086389" y="3792243"/>
                <a:ext cx="1251359" cy="128911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200" b="1" i="0" u="none" dirty="0">
                    <a:solidFill>
                      <a:srgbClr val="0F172A"/>
                    </a:solidFill>
                    <a:latin typeface="Noto Sans KR"/>
                  </a:rPr>
                  <a:t>Negative (Label 0)</a:t>
                </a:r>
              </a:p>
            </p:txBody>
          </p:sp>
        </p:grpSp>
      </p:grpSp>
      <p:sp>
        <p:nvSpPr>
          <p:cNvPr id="42" name="TextBox 41"/>
          <p:cNvSpPr txBox="1"/>
          <p:nvPr/>
        </p:nvSpPr>
        <p:spPr>
          <a:xfrm>
            <a:off x="868680" y="4617720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9253D"/>
                </a:solidFill>
              </a:rPr>
              <a:t>[데이터 재분할 상세 및 정합성 설명]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4937760"/>
            <a:ext cx="315468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3D70C4"/>
                </a:solidFill>
              </a:rPr>
              <a:t>원본 데이터 구성 · 총 59,899개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30" b="0">
                <a:solidFill>
                  <a:srgbClr val="28303C"/>
                </a:solidFill>
              </a:rPr>
              <a:t>• Train 45,615개 / Validation 2,000개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30" b="0">
                <a:solidFill>
                  <a:srgbClr val="28303C"/>
                </a:solidFill>
              </a:rPr>
              <a:t>• Test 12,284개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79392" y="4937760"/>
            <a:ext cx="342900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DE8B37"/>
                </a:solidFill>
              </a:rPr>
              <a:t>통합 및 재분할 배경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30" b="0">
                <a:solidFill>
                  <a:srgbClr val="28303C"/>
                </a:solidFill>
              </a:rPr>
              <a:t>• Validation 2,000개가 상대적으로 작아 전체 통합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30" b="0">
                <a:solidFill>
                  <a:srgbClr val="28303C"/>
                </a:solidFill>
              </a:rPr>
              <a:t>• 59,899개를 Stratified 80:20으로 재분할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73568" y="4937760"/>
            <a:ext cx="33375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39825B"/>
                </a:solidFill>
              </a:rPr>
              <a:t>최종 분할 및 Validation 출처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10" b="0">
                <a:solidFill>
                  <a:srgbClr val="28303C"/>
                </a:solidFill>
              </a:rPr>
              <a:t>• Train 47,919개 / Test 11,980개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10" b="0">
                <a:solidFill>
                  <a:srgbClr val="28303C"/>
                </a:solidFill>
              </a:rPr>
              <a:t>• Train 내 10%(약 4,792개)를 학습 시 동적 분리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19253D"/>
                </a:solidFill>
              </a:rPr>
              <a:t>3. </a:t>
            </a:r>
            <a:r>
              <a:rPr sz="2800" b="1" dirty="0" err="1">
                <a:solidFill>
                  <a:srgbClr val="19253D"/>
                </a:solidFill>
              </a:rPr>
              <a:t>감정</a:t>
            </a:r>
            <a:r>
              <a:rPr sz="2800" b="1" dirty="0">
                <a:solidFill>
                  <a:srgbClr val="19253D"/>
                </a:solidFill>
              </a:rPr>
              <a:t> </a:t>
            </a:r>
            <a:r>
              <a:rPr sz="2800" b="1" dirty="0" err="1">
                <a:solidFill>
                  <a:srgbClr val="19253D"/>
                </a:solidFill>
              </a:rPr>
              <a:t>라벨</a:t>
            </a:r>
            <a:r>
              <a:rPr sz="2800" b="1" dirty="0">
                <a:solidFill>
                  <a:srgbClr val="19253D"/>
                </a:solidFill>
              </a:rPr>
              <a:t> </a:t>
            </a:r>
            <a:r>
              <a:rPr sz="2800" b="1" dirty="0" err="1">
                <a:solidFill>
                  <a:srgbClr val="19253D"/>
                </a:solidFill>
              </a:rPr>
              <a:t>및</a:t>
            </a:r>
            <a:r>
              <a:rPr sz="2800" b="1" dirty="0">
                <a:solidFill>
                  <a:srgbClr val="19253D"/>
                </a:solidFill>
              </a:rPr>
              <a:t> </a:t>
            </a:r>
            <a:r>
              <a:rPr sz="2800" b="1" dirty="0" err="1">
                <a:solidFill>
                  <a:srgbClr val="19253D"/>
                </a:solidFill>
              </a:rPr>
              <a:t>데이터</a:t>
            </a:r>
            <a:r>
              <a:rPr sz="2800" b="1" dirty="0">
                <a:solidFill>
                  <a:srgbClr val="19253D"/>
                </a:solidFill>
              </a:rPr>
              <a:t> </a:t>
            </a:r>
            <a:r>
              <a:rPr sz="2800" b="1" dirty="0" err="1">
                <a:solidFill>
                  <a:srgbClr val="19253D"/>
                </a:solidFill>
              </a:rPr>
              <a:t>분포</a:t>
            </a:r>
            <a:endParaRPr sz="2800" b="1" dirty="0">
              <a:solidFill>
                <a:srgbClr val="19253D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822960" y="1508760"/>
            <a:ext cx="3246120" cy="2103120"/>
          </a:xfrm>
          <a:prstGeom prst="roundRect">
            <a:avLst/>
          </a:prstGeom>
          <a:solidFill>
            <a:srgbClr val="F2F6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" y="173736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E4848"/>
                </a:solidFill>
              </a:rPr>
              <a:t>Label 0</a:t>
            </a:r>
          </a:p>
          <a:p>
            <a:r>
              <a:rPr sz="2400" b="1">
                <a:solidFill>
                  <a:srgbClr val="19253D"/>
                </a:solidFill>
              </a:rPr>
              <a:t>Negative</a:t>
            </a:r>
          </a:p>
          <a:p>
            <a:r>
              <a:rPr sz="1700">
                <a:solidFill>
                  <a:srgbClr val="28303C"/>
                </a:solidFill>
              </a:rPr>
              <a:t>11,377 samples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508760"/>
            <a:ext cx="3246120" cy="2103120"/>
          </a:xfrm>
          <a:prstGeom prst="roundRect">
            <a:avLst/>
          </a:prstGeom>
          <a:solidFill>
            <a:srgbClr val="F2F6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00600" y="173736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D70C4"/>
                </a:solidFill>
              </a:rPr>
              <a:t>Label 1</a:t>
            </a:r>
          </a:p>
          <a:p>
            <a:r>
              <a:rPr sz="2400" b="1">
                <a:solidFill>
                  <a:srgbClr val="19253D"/>
                </a:solidFill>
              </a:rPr>
              <a:t>Neutral</a:t>
            </a:r>
          </a:p>
          <a:p>
            <a:r>
              <a:rPr sz="1700">
                <a:solidFill>
                  <a:srgbClr val="28303C"/>
                </a:solidFill>
              </a:rPr>
              <a:t>27,479 samples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508760"/>
            <a:ext cx="3246120" cy="2103120"/>
          </a:xfrm>
          <a:prstGeom prst="roundRect">
            <a:avLst/>
          </a:prstGeom>
          <a:solidFill>
            <a:srgbClr val="F2F6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49640" y="173736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39825B"/>
                </a:solidFill>
              </a:rPr>
              <a:t>Label 2</a:t>
            </a:r>
          </a:p>
          <a:p>
            <a:r>
              <a:rPr sz="2400" b="1">
                <a:solidFill>
                  <a:srgbClr val="19253D"/>
                </a:solidFill>
              </a:rPr>
              <a:t>Positive</a:t>
            </a:r>
          </a:p>
          <a:p>
            <a:r>
              <a:rPr sz="1700">
                <a:solidFill>
                  <a:srgbClr val="28303C"/>
                </a:solidFill>
              </a:rPr>
              <a:t>21,043 samples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160520"/>
            <a:ext cx="10058400" cy="914400"/>
          </a:xfrm>
          <a:prstGeom prst="roundRect">
            <a:avLst/>
          </a:prstGeom>
          <a:solidFill>
            <a:srgbClr val="F6F8FA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78992" y="4270248"/>
            <a:ext cx="9729216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28303C"/>
                </a:solidFill>
                <a:latin typeface="Courier New"/>
              </a:rPr>
              <a:t>print(df["label"].value_counts().sort_index())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28C9B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230368"/>
            <a:ext cx="1056132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9253D"/>
                </a:solidFill>
              </a:rPr>
              <a:t>[클래스 불균형(Class Imbalance) 분석]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150" b="1">
                <a:solidFill>
                  <a:srgbClr val="28303C"/>
                </a:solidFill>
              </a:rPr>
              <a:t>• 데이터 비율: Neutral(45.9%) &gt; Positive(35.1%) &gt; Negative(19.0%)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80" b="0">
                <a:solidFill>
                  <a:srgbClr val="28303C"/>
                </a:solidFill>
              </a:rPr>
              <a:t>• Neutral·Positive가 80% 이상을 차지해 모델이 Neutral 쪽으로 편향될 수 있으며, Negative 데이터는 상대적으로 부족함.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>
                <a:solidFill>
                  <a:srgbClr val="28303C"/>
                </a:solidFill>
              </a:rPr>
              <a:t>• train_test_split의 'stratify' 옵션으로 분할 전후 클래스 비율을 동일하게 유지함.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53D"/>
                </a:solidFill>
              </a:rPr>
              <a:t>4. 데이터 분할 및 텍스트 전처리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3108960" cy="1325880"/>
          </a:xfrm>
          <a:prstGeom prst="roundRect">
            <a:avLst/>
          </a:prstGeom>
          <a:solidFill>
            <a:srgbClr val="F2F6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472184"/>
            <a:ext cx="27066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D70C4"/>
                </a:solidFill>
              </a:rPr>
              <a:t>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1828800"/>
            <a:ext cx="270662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9253D"/>
                </a:solidFill>
              </a:rPr>
              <a:t>47,919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423160"/>
            <a:ext cx="2706624" cy="1414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en-US" altLang="ko-KR" sz="919">
                <a:solidFill>
                  <a:srgbClr val="28303C"/>
                </a:solidFill>
              </a:rPr>
              <a:t>80% · </a:t>
            </a:r>
            <a:r>
              <a:rPr lang="ko-KR" altLang="en-US" sz="919">
                <a:solidFill>
                  <a:srgbClr val="28303C"/>
                </a:solidFill>
              </a:rPr>
              <a:t>학습 시 </a:t>
            </a:r>
            <a:r>
              <a:rPr lang="en-US" altLang="ko-KR" sz="919">
                <a:solidFill>
                  <a:srgbClr val="28303C"/>
                </a:solidFill>
              </a:rPr>
              <a:t>10% Validation </a:t>
            </a:r>
            <a:r>
              <a:rPr lang="ko-KR" altLang="en-US" sz="919">
                <a:solidFill>
                  <a:srgbClr val="28303C"/>
                </a:solidFill>
              </a:rPr>
              <a:t>동적 분리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325880"/>
            <a:ext cx="3108960" cy="1325880"/>
          </a:xfrm>
          <a:prstGeom prst="roundRect">
            <a:avLst/>
          </a:prstGeom>
          <a:solidFill>
            <a:srgbClr val="F2F6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27448" y="1472184"/>
            <a:ext cx="27066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9825B"/>
                </a:solidFill>
              </a:rPr>
              <a:t>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1828800"/>
            <a:ext cx="270662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9253D"/>
                </a:solidFill>
              </a:rPr>
              <a:t>11,980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2423160"/>
            <a:ext cx="27066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303C"/>
                </a:solidFill>
              </a:rPr>
              <a:t>20%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325880"/>
            <a:ext cx="3108960" cy="1325880"/>
          </a:xfrm>
          <a:prstGeom prst="roundRect">
            <a:avLst/>
          </a:prstGeom>
          <a:solidFill>
            <a:srgbClr val="F2F6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76488" y="1472184"/>
            <a:ext cx="27066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E8B37"/>
                </a:solidFill>
              </a:rPr>
              <a:t>Max Length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1828800"/>
            <a:ext cx="270662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9253D"/>
                </a:solidFill>
              </a:rPr>
              <a:t>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2423160"/>
            <a:ext cx="27066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303C"/>
                </a:solidFill>
              </a:rPr>
              <a:t>padding / truncating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2971800"/>
            <a:ext cx="5120640" cy="2103120"/>
          </a:xfrm>
          <a:prstGeom prst="roundRect">
            <a:avLst/>
          </a:prstGeom>
          <a:solidFill>
            <a:srgbClr val="F6F8FA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3081528"/>
            <a:ext cx="4791455" cy="1883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8303C"/>
                </a:solidFill>
                <a:latin typeface="Courier New"/>
              </a:rPr>
              <a:t>train_test_split(
    df,
    test_size=0.20,
    random_state=42,
    stratify=df["label"]
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2971800"/>
            <a:ext cx="5120640" cy="2103120"/>
          </a:xfrm>
          <a:prstGeom prst="roundRect">
            <a:avLst/>
          </a:prstGeom>
          <a:solidFill>
            <a:srgbClr val="F6F8FA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28231" y="3081528"/>
            <a:ext cx="4791455" cy="1883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8303C"/>
                </a:solidFill>
                <a:latin typeface="Courier New"/>
              </a:rPr>
              <a:t>Tokenizer(num_words=10000, oov_token="&lt;OOV&gt;")
pad_sequences(
    ..., maxlen=64,
    padding="post", truncating="post"
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28C9B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4572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53D"/>
                </a:solidFill>
              </a:rPr>
              <a:t>5. 딥러닝 모델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1481328" cy="2148840"/>
          </a:xfrm>
          <a:prstGeom prst="roundRect">
            <a:avLst/>
          </a:prstGeom>
          <a:solidFill>
            <a:srgbClr val="F2F6FB"/>
          </a:solidFill>
          <a:ln w="25400">
            <a:solidFill>
              <a:srgbClr val="3D7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6072" y="1527048"/>
            <a:ext cx="1335024" cy="1737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9253D"/>
                </a:solidFill>
              </a:rPr>
              <a:t>Input</a:t>
            </a:r>
          </a:p>
          <a:p>
            <a:pPr algn="ctr"/>
            <a:r>
              <a:rPr sz="1100">
                <a:solidFill>
                  <a:srgbClr val="28303C"/>
                </a:solidFill>
              </a:rPr>
              <a:t>Integer sequence
(max length 64)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993391" y="2130552"/>
            <a:ext cx="155448" cy="457200"/>
          </a:xfrm>
          <a:prstGeom prst="rightArrow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157984" y="1325880"/>
            <a:ext cx="1481328" cy="2148840"/>
          </a:xfrm>
          <a:prstGeom prst="roundRect">
            <a:avLst/>
          </a:prstGeom>
          <a:solidFill>
            <a:srgbClr val="F2F6FB"/>
          </a:solidFill>
          <a:ln w="25400">
            <a:solidFill>
              <a:srgbClr val="398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136" y="1527048"/>
            <a:ext cx="1335024" cy="1737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9253D"/>
                </a:solidFill>
              </a:rPr>
              <a:t>Embedding</a:t>
            </a:r>
          </a:p>
          <a:p>
            <a:pPr algn="ctr"/>
            <a:r>
              <a:rPr sz="1100">
                <a:solidFill>
                  <a:srgbClr val="28303C"/>
                </a:solidFill>
              </a:rPr>
              <a:t>vocab 10,000
output dim 128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648456" y="2130552"/>
            <a:ext cx="155448" cy="457200"/>
          </a:xfrm>
          <a:prstGeom prst="rightArrow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813048" y="1325880"/>
            <a:ext cx="1481328" cy="2148840"/>
          </a:xfrm>
          <a:prstGeom prst="roundRect">
            <a:avLst/>
          </a:prstGeom>
          <a:solidFill>
            <a:srgbClr val="F2F6FB"/>
          </a:solidFill>
          <a:ln w="25400">
            <a:solidFill>
              <a:srgbClr val="DE8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86200" y="1527048"/>
            <a:ext cx="1335024" cy="1737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9253D"/>
                </a:solidFill>
              </a:rPr>
              <a:t>SpatialDropout1D</a:t>
            </a:r>
          </a:p>
          <a:p>
            <a:pPr algn="ctr"/>
            <a:r>
              <a:rPr sz="1100">
                <a:solidFill>
                  <a:srgbClr val="28303C"/>
                </a:solidFill>
              </a:rPr>
              <a:t>rate = 0.2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303520" y="2130552"/>
            <a:ext cx="155448" cy="457200"/>
          </a:xfrm>
          <a:prstGeom prst="rightArrow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68112" y="1325880"/>
            <a:ext cx="1481328" cy="2148840"/>
          </a:xfrm>
          <a:prstGeom prst="roundRect">
            <a:avLst/>
          </a:prstGeom>
          <a:solidFill>
            <a:srgbClr val="F2F6FB"/>
          </a:solidFill>
          <a:ln w="25400">
            <a:solidFill>
              <a:srgbClr val="3D70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541264" y="1527048"/>
            <a:ext cx="1335024" cy="1737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9253D"/>
                </a:solidFill>
              </a:rPr>
              <a:t>Bidirectional LSTM</a:t>
            </a:r>
          </a:p>
          <a:p>
            <a:pPr algn="ctr"/>
            <a:r>
              <a:rPr sz="1100">
                <a:solidFill>
                  <a:srgbClr val="28303C"/>
                </a:solidFill>
              </a:rPr>
              <a:t>64 units
dropout = 0.2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958583" y="2130552"/>
            <a:ext cx="155448" cy="457200"/>
          </a:xfrm>
          <a:prstGeom prst="rightArrow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123176" y="1325880"/>
            <a:ext cx="1481328" cy="2148840"/>
          </a:xfrm>
          <a:prstGeom prst="roundRect">
            <a:avLst/>
          </a:prstGeom>
          <a:solidFill>
            <a:srgbClr val="F2F6FB"/>
          </a:solidFill>
          <a:ln w="25400">
            <a:solidFill>
              <a:srgbClr val="398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96328" y="1527048"/>
            <a:ext cx="1335024" cy="1737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9253D"/>
                </a:solidFill>
              </a:rPr>
              <a:t>Dense</a:t>
            </a:r>
          </a:p>
          <a:p>
            <a:pPr algn="ctr"/>
            <a:r>
              <a:rPr sz="1100">
                <a:solidFill>
                  <a:srgbClr val="28303C"/>
                </a:solidFill>
              </a:rPr>
              <a:t>32 units
ReLU + L2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613648" y="2130552"/>
            <a:ext cx="155448" cy="457200"/>
          </a:xfrm>
          <a:prstGeom prst="rightArrow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778240" y="1325880"/>
            <a:ext cx="1481328" cy="2148840"/>
          </a:xfrm>
          <a:prstGeom prst="roundRect">
            <a:avLst/>
          </a:prstGeom>
          <a:solidFill>
            <a:srgbClr val="F2F6FB"/>
          </a:solidFill>
          <a:ln w="25400">
            <a:solidFill>
              <a:srgbClr val="DE8B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51392" y="1527048"/>
            <a:ext cx="1335024" cy="1737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9253D"/>
                </a:solidFill>
              </a:rPr>
              <a:t>Dropout</a:t>
            </a:r>
          </a:p>
          <a:p>
            <a:pPr algn="ctr"/>
            <a:r>
              <a:rPr sz="1100">
                <a:solidFill>
                  <a:srgbClr val="28303C"/>
                </a:solidFill>
              </a:rPr>
              <a:t>rate = 0.4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0268712" y="2130552"/>
            <a:ext cx="155448" cy="457200"/>
          </a:xfrm>
          <a:prstGeom prst="rightArrow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433304" y="1325880"/>
            <a:ext cx="1481328" cy="2148840"/>
          </a:xfrm>
          <a:prstGeom prst="roundRect">
            <a:avLst/>
          </a:prstGeom>
          <a:solidFill>
            <a:srgbClr val="F2F6FB"/>
          </a:solidFill>
          <a:ln w="25400">
            <a:solidFill>
              <a:srgbClr val="BE48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06456" y="1527048"/>
            <a:ext cx="1335024" cy="1737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19253D"/>
                </a:solidFill>
              </a:rPr>
              <a:t>Output</a:t>
            </a:r>
          </a:p>
          <a:p>
            <a:pPr algn="ctr"/>
            <a:r>
              <a:rPr sz="1100">
                <a:solidFill>
                  <a:srgbClr val="28303C"/>
                </a:solidFill>
              </a:rPr>
              <a:t>3 units
Softmax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3977639"/>
            <a:ext cx="9875520" cy="1234440"/>
          </a:xfrm>
          <a:prstGeom prst="roundRect">
            <a:avLst/>
          </a:prstGeom>
          <a:solidFill>
            <a:srgbClr val="F6F8FA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307592" y="4087368"/>
            <a:ext cx="9546336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 err="1">
                <a:solidFill>
                  <a:srgbClr val="28303C"/>
                </a:solidFill>
                <a:latin typeface="Courier New"/>
              </a:rPr>
              <a:t>model.compile</a:t>
            </a:r>
            <a:r>
              <a:rPr sz="1300" dirty="0">
                <a:solidFill>
                  <a:srgbClr val="28303C"/>
                </a:solidFill>
                <a:latin typeface="Courier New"/>
              </a:rPr>
              <a:t>(
    optimizer=Adam(</a:t>
            </a:r>
            <a:r>
              <a:rPr sz="1300" dirty="0" err="1">
                <a:solidFill>
                  <a:srgbClr val="28303C"/>
                </a:solidFill>
                <a:latin typeface="Courier New"/>
              </a:rPr>
              <a:t>learning_rate</a:t>
            </a:r>
            <a:r>
              <a:rPr sz="1300" dirty="0">
                <a:solidFill>
                  <a:srgbClr val="28303C"/>
                </a:solidFill>
                <a:latin typeface="Courier New"/>
              </a:rPr>
              <a:t>=0.0005),
    loss="</a:t>
            </a:r>
            <a:r>
              <a:rPr sz="1300" dirty="0" err="1">
                <a:solidFill>
                  <a:srgbClr val="28303C"/>
                </a:solidFill>
                <a:latin typeface="Courier New"/>
              </a:rPr>
              <a:t>sparse_categorical_crossentropy</a:t>
            </a:r>
            <a:r>
              <a:rPr sz="1300" dirty="0">
                <a:solidFill>
                  <a:srgbClr val="28303C"/>
                </a:solidFill>
                <a:latin typeface="Courier New"/>
              </a:rPr>
              <a:t>",
    metrics=["accuracy"]
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28C9B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53D"/>
                </a:solidFill>
              </a:rPr>
              <a:t>6. 모델 학습 설정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2560320" cy="1325880"/>
          </a:xfrm>
          <a:prstGeom prst="roundRect">
            <a:avLst/>
          </a:prstGeom>
          <a:solidFill>
            <a:srgbClr val="F2F6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1563624"/>
            <a:ext cx="21579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D70C4"/>
                </a:solidFill>
              </a:rPr>
              <a:t>Epochs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1920240"/>
            <a:ext cx="215798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9253D"/>
                </a:solidFill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514600"/>
            <a:ext cx="21579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303C"/>
                </a:solidFill>
              </a:rPr>
              <a:t>EarlyStopping 적용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417320"/>
            <a:ext cx="2560320" cy="1325880"/>
          </a:xfrm>
          <a:prstGeom prst="roundRect">
            <a:avLst/>
          </a:prstGeom>
          <a:solidFill>
            <a:srgbClr val="F2F6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58768" y="1563624"/>
            <a:ext cx="21579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9825B"/>
                </a:solidFill>
              </a:rPr>
              <a:t>Batch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58768" y="1920240"/>
            <a:ext cx="215798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9253D"/>
                </a:solidFill>
              </a:rPr>
              <a:t>64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417320"/>
            <a:ext cx="2560320" cy="1325880"/>
          </a:xfrm>
          <a:prstGeom prst="roundRect">
            <a:avLst/>
          </a:prstGeom>
          <a:solidFill>
            <a:srgbClr val="F2F6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93407" y="1563624"/>
            <a:ext cx="21579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E8B37"/>
                </a:solidFill>
              </a:rPr>
              <a:t>Validation Split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3407" y="1920240"/>
            <a:ext cx="215798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9253D"/>
                </a:solidFill>
              </a:rPr>
              <a:t>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7" y="2514600"/>
            <a:ext cx="215798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303C"/>
                </a:solidFill>
              </a:rPr>
              <a:t>from training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1417320"/>
            <a:ext cx="2011680" cy="1325880"/>
          </a:xfrm>
          <a:prstGeom prst="roundRect">
            <a:avLst/>
          </a:prstGeom>
          <a:solidFill>
            <a:srgbClr val="F2F6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28048" y="1563624"/>
            <a:ext cx="1609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BE4848"/>
                </a:solidFill>
              </a:rPr>
              <a:t>Optimizer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8048" y="1920240"/>
            <a:ext cx="1609344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9253D"/>
                </a:solidFill>
              </a:rPr>
              <a:t>Adam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28048" y="2514600"/>
            <a:ext cx="160934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303C"/>
                </a:solidFill>
              </a:rPr>
              <a:t>LR 0.0005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3074670"/>
            <a:ext cx="4800600" cy="1828800"/>
          </a:xfrm>
          <a:prstGeom prst="roundRect">
            <a:avLst/>
          </a:prstGeom>
          <a:solidFill>
            <a:srgbClr val="F6F8FA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70432" y="3355848"/>
            <a:ext cx="4471416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 err="1">
                <a:solidFill>
                  <a:srgbClr val="28303C"/>
                </a:solidFill>
                <a:latin typeface="Courier New"/>
              </a:rPr>
              <a:t>EarlyStopping</a:t>
            </a:r>
            <a:r>
              <a:rPr sz="1400" dirty="0">
                <a:solidFill>
                  <a:srgbClr val="28303C"/>
                </a:solidFill>
                <a:latin typeface="Courier New"/>
              </a:rPr>
              <a:t>(
    monitor="</a:t>
            </a:r>
            <a:r>
              <a:rPr sz="1400" dirty="0" err="1">
                <a:solidFill>
                  <a:srgbClr val="28303C"/>
                </a:solidFill>
                <a:latin typeface="Courier New"/>
              </a:rPr>
              <a:t>val_loss</a:t>
            </a:r>
            <a:r>
              <a:rPr sz="1400" dirty="0">
                <a:solidFill>
                  <a:srgbClr val="28303C"/>
                </a:solidFill>
                <a:latin typeface="Courier New"/>
              </a:rPr>
              <a:t>",
    patience=3,
    </a:t>
            </a:r>
            <a:r>
              <a:rPr sz="1400" dirty="0" err="1">
                <a:solidFill>
                  <a:srgbClr val="28303C"/>
                </a:solidFill>
                <a:latin typeface="Courier New"/>
              </a:rPr>
              <a:t>restore_best_weights</a:t>
            </a:r>
            <a:r>
              <a:rPr sz="1400" dirty="0">
                <a:solidFill>
                  <a:srgbClr val="28303C"/>
                </a:solidFill>
                <a:latin typeface="Courier New"/>
              </a:rPr>
              <a:t>=True
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074670"/>
            <a:ext cx="4892040" cy="1828800"/>
          </a:xfrm>
          <a:prstGeom prst="roundRect">
            <a:avLst/>
          </a:prstGeom>
          <a:solidFill>
            <a:srgbClr val="F6F8FA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36792" y="3355848"/>
            <a:ext cx="4562855" cy="1609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8303C"/>
                </a:solidFill>
                <a:latin typeface="Courier New"/>
              </a:rPr>
              <a:t>epochs = 10
batch_size = 64
history = model.fit(
    X_train_padded, y_train,
    validation_split=0.1,
    callbacks=[early_stop]
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28C9B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53D"/>
                </a:solidFill>
              </a:rPr>
              <a:t>7. 학습 결과 — Accuracy</a:t>
            </a:r>
          </a:p>
        </p:txBody>
      </p:sp>
      <p:pic>
        <p:nvPicPr>
          <p:cNvPr id="4" name="Picture 3" descr="training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629400" cy="3480435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35240" y="1417320"/>
          <a:ext cx="3886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Epoch</a:t>
                      </a:r>
                    </a:p>
                  </a:txBody>
                  <a:tcPr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Train</a:t>
                      </a:r>
                    </a:p>
                  </a:txBody>
                  <a:tcPr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Val</a:t>
                      </a:r>
                    </a:p>
                  </a:txBody>
                  <a:tcPr>
                    <a:solidFill>
                      <a:srgbClr val="DC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0.5724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0.6432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0.6542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0.7254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0.6523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0.7468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0.6434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0.7654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dirty="0"/>
                        <a:t>0.6442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709160"/>
            <a:ext cx="10561320" cy="5878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altLang="ko-KR" sz="1400" b="1">
                <a:solidFill>
                  <a:srgbClr val="19253D"/>
                </a:solidFill>
              </a:rPr>
              <a:t>[</a:t>
            </a:r>
            <a:r>
              <a:rPr lang="ko-KR" altLang="en-US" sz="1400" b="1">
                <a:solidFill>
                  <a:srgbClr val="19253D"/>
                </a:solidFill>
              </a:rPr>
              <a:t>과적합</a:t>
            </a:r>
            <a:r>
              <a:rPr lang="en-US" altLang="ko-KR" sz="1400" b="1">
                <a:solidFill>
                  <a:srgbClr val="19253D"/>
                </a:solidFill>
              </a:rPr>
              <a:t>(Overfitting) </a:t>
            </a:r>
            <a:r>
              <a:rPr lang="ko-KR" altLang="en-US" sz="1400" b="1">
                <a:solidFill>
                  <a:srgbClr val="19253D"/>
                </a:solidFill>
              </a:rPr>
              <a:t>현상 분석</a:t>
            </a:r>
            <a:r>
              <a:rPr lang="en-US" altLang="ko-KR" sz="1400" b="1">
                <a:solidFill>
                  <a:srgbClr val="19253D"/>
                </a:solidFill>
              </a:rPr>
              <a:t>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altLang="ko-KR" sz="1100" b="0">
                <a:solidFill>
                  <a:srgbClr val="28303C"/>
                </a:solidFill>
              </a:rPr>
              <a:t>• Epoch 2 </a:t>
            </a:r>
            <a:r>
              <a:rPr lang="ko-KR" altLang="en-US" sz="1100" b="0">
                <a:solidFill>
                  <a:srgbClr val="28303C"/>
                </a:solidFill>
              </a:rPr>
              <a:t>이후 </a:t>
            </a:r>
            <a:r>
              <a:rPr lang="en-US" altLang="ko-KR" sz="1100" b="0">
                <a:solidFill>
                  <a:srgbClr val="28303C"/>
                </a:solidFill>
              </a:rPr>
              <a:t>Train Acc</a:t>
            </a:r>
            <a:r>
              <a:rPr lang="ko-KR" altLang="en-US" sz="1100" b="0">
                <a:solidFill>
                  <a:srgbClr val="28303C"/>
                </a:solidFill>
              </a:rPr>
              <a:t>는 </a:t>
            </a:r>
            <a:r>
              <a:rPr lang="en-US" altLang="ko-KR" sz="1100" b="0">
                <a:solidFill>
                  <a:srgbClr val="28303C"/>
                </a:solidFill>
              </a:rPr>
              <a:t>57.24%→76.54%</a:t>
            </a:r>
            <a:r>
              <a:rPr lang="ko-KR" altLang="en-US" sz="1100" b="0">
                <a:solidFill>
                  <a:srgbClr val="28303C"/>
                </a:solidFill>
              </a:rPr>
              <a:t>로 증가했지만 </a:t>
            </a:r>
            <a:r>
              <a:rPr lang="en-US" altLang="ko-KR" sz="1100" b="0">
                <a:solidFill>
                  <a:srgbClr val="28303C"/>
                </a:solidFill>
              </a:rPr>
              <a:t>Validation Acc</a:t>
            </a:r>
            <a:r>
              <a:rPr lang="ko-KR" altLang="en-US" sz="1100" b="0">
                <a:solidFill>
                  <a:srgbClr val="28303C"/>
                </a:solidFill>
              </a:rPr>
              <a:t>는 </a:t>
            </a:r>
            <a:r>
              <a:rPr lang="en-US" altLang="ko-KR" sz="1100" b="0">
                <a:solidFill>
                  <a:srgbClr val="28303C"/>
                </a:solidFill>
              </a:rPr>
              <a:t>64.42%</a:t>
            </a:r>
            <a:r>
              <a:rPr lang="ko-KR" altLang="en-US" sz="1100" b="0">
                <a:solidFill>
                  <a:srgbClr val="28303C"/>
                </a:solidFill>
              </a:rPr>
              <a:t>에 머물러 격차가 확대됨</a:t>
            </a:r>
            <a:r>
              <a:rPr lang="en-US" altLang="ko-KR" sz="1100" b="0">
                <a:solidFill>
                  <a:srgbClr val="28303C"/>
                </a:solidFill>
              </a:rPr>
              <a:t>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070" b="0">
                <a:solidFill>
                  <a:srgbClr val="28303C"/>
                </a:solidFill>
              </a:rPr>
              <a:t>• </a:t>
            </a:r>
            <a:r>
              <a:rPr lang="ko-KR" altLang="en-US" sz="1070" b="0">
                <a:solidFill>
                  <a:srgbClr val="28303C"/>
                </a:solidFill>
              </a:rPr>
              <a:t>원인</a:t>
            </a:r>
            <a:r>
              <a:rPr lang="en-US" altLang="ko-KR" sz="1070" b="0">
                <a:solidFill>
                  <a:srgbClr val="28303C"/>
                </a:solidFill>
              </a:rPr>
              <a:t>: </a:t>
            </a:r>
            <a:r>
              <a:rPr lang="ko-KR" altLang="en-US" sz="1070" b="0">
                <a:solidFill>
                  <a:srgbClr val="28303C"/>
                </a:solidFill>
              </a:rPr>
              <a:t>트위터 텍스트의 노이즈와 사전 학습되지 않은 </a:t>
            </a:r>
            <a:r>
              <a:rPr lang="en-US" altLang="ko-KR" sz="1070" b="0">
                <a:solidFill>
                  <a:srgbClr val="28303C"/>
                </a:solidFill>
              </a:rPr>
              <a:t>Embedding </a:t>
            </a:r>
            <a:r>
              <a:rPr lang="ko-KR" altLang="en-US" sz="1070" b="0">
                <a:solidFill>
                  <a:srgbClr val="28303C"/>
                </a:solidFill>
              </a:rPr>
              <a:t>레이어의 약 </a:t>
            </a:r>
            <a:r>
              <a:rPr lang="en-US" altLang="ko-KR" sz="1070" b="0">
                <a:solidFill>
                  <a:srgbClr val="28303C"/>
                </a:solidFill>
              </a:rPr>
              <a:t>128</a:t>
            </a:r>
            <a:r>
              <a:rPr lang="ko-KR" altLang="en-US" sz="1070" b="0">
                <a:solidFill>
                  <a:srgbClr val="28303C"/>
                </a:solidFill>
              </a:rPr>
              <a:t>만 개 파라미터가 학습 데이터에 과도하게 적합됨</a:t>
            </a:r>
            <a:r>
              <a:rPr lang="en-US" altLang="ko-KR" sz="1070" b="0">
                <a:solidFill>
                  <a:srgbClr val="28303C"/>
                </a:solidFill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28C9B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53D"/>
                </a:solidFill>
              </a:rPr>
              <a:t>8. 학습 결과 — Loss</a:t>
            </a:r>
          </a:p>
        </p:txBody>
      </p:sp>
      <p:pic>
        <p:nvPicPr>
          <p:cNvPr id="4" name="Picture 3" descr="training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5880"/>
            <a:ext cx="6629400" cy="3480435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35240" y="1417320"/>
          <a:ext cx="3886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t>Epoch</a:t>
                      </a:r>
                    </a:p>
                  </a:txBody>
                  <a:tcPr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Train</a:t>
                      </a:r>
                    </a:p>
                  </a:txBody>
                  <a:tcPr>
                    <a:solidFill>
                      <a:srgbClr val="DCE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Val</a:t>
                      </a:r>
                    </a:p>
                  </a:txBody>
                  <a:tcPr>
                    <a:solidFill>
                      <a:srgbClr val="DC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0.7876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0.7233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0.7646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0.6522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0.7677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0.6066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0.7878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0.5669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0.8123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4709160"/>
            <a:ext cx="10561320" cy="5878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lang="en-US" altLang="ko-KR" sz="1400" b="1">
                <a:solidFill>
                  <a:srgbClr val="19253D"/>
                </a:solidFill>
              </a:rPr>
              <a:t>[</a:t>
            </a:r>
            <a:r>
              <a:rPr lang="ko-KR" altLang="en-US" sz="1400" b="1">
                <a:solidFill>
                  <a:srgbClr val="19253D"/>
                </a:solidFill>
              </a:rPr>
              <a:t>과적합 조치 및 </a:t>
            </a:r>
            <a:r>
              <a:rPr lang="en-US" altLang="ko-KR" sz="1400" b="1">
                <a:solidFill>
                  <a:srgbClr val="19253D"/>
                </a:solidFill>
              </a:rPr>
              <a:t>EarlyStopping </a:t>
            </a:r>
            <a:r>
              <a:rPr lang="ko-KR" altLang="en-US" sz="1400" b="1">
                <a:solidFill>
                  <a:srgbClr val="19253D"/>
                </a:solidFill>
              </a:rPr>
              <a:t>역할</a:t>
            </a:r>
            <a:r>
              <a:rPr lang="en-US" altLang="ko-KR" sz="1400" b="1">
                <a:solidFill>
                  <a:srgbClr val="19253D"/>
                </a:solidFill>
              </a:rPr>
              <a:t>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lang="en-US" altLang="ko-KR" sz="1090" b="0">
                <a:solidFill>
                  <a:srgbClr val="28303C"/>
                </a:solidFill>
              </a:rPr>
              <a:t>• Train Loss</a:t>
            </a:r>
            <a:r>
              <a:rPr lang="ko-KR" altLang="en-US" sz="1090" b="0">
                <a:solidFill>
                  <a:srgbClr val="28303C"/>
                </a:solidFill>
              </a:rPr>
              <a:t>는 </a:t>
            </a:r>
            <a:r>
              <a:rPr lang="en-US" altLang="ko-KR" sz="1090" b="0">
                <a:solidFill>
                  <a:srgbClr val="28303C"/>
                </a:solidFill>
              </a:rPr>
              <a:t>0.9017→0.5669</a:t>
            </a:r>
            <a:r>
              <a:rPr lang="ko-KR" altLang="en-US" sz="1090" b="0">
                <a:solidFill>
                  <a:srgbClr val="28303C"/>
                </a:solidFill>
              </a:rPr>
              <a:t>로 계속 감소했지만 </a:t>
            </a:r>
            <a:r>
              <a:rPr lang="en-US" altLang="ko-KR" sz="1090" b="0">
                <a:solidFill>
                  <a:srgbClr val="28303C"/>
                </a:solidFill>
              </a:rPr>
              <a:t>Validation Loss</a:t>
            </a:r>
            <a:r>
              <a:rPr lang="ko-KR" altLang="en-US" sz="1090" b="0">
                <a:solidFill>
                  <a:srgbClr val="28303C"/>
                </a:solidFill>
              </a:rPr>
              <a:t>는 </a:t>
            </a:r>
            <a:r>
              <a:rPr lang="en-US" altLang="ko-KR" sz="1090" b="0">
                <a:solidFill>
                  <a:srgbClr val="28303C"/>
                </a:solidFill>
              </a:rPr>
              <a:t>Epoch 2</a:t>
            </a:r>
            <a:r>
              <a:rPr lang="ko-KR" altLang="en-US" sz="1090" b="0">
                <a:solidFill>
                  <a:srgbClr val="28303C"/>
                </a:solidFill>
              </a:rPr>
              <a:t>의 </a:t>
            </a:r>
            <a:r>
              <a:rPr lang="en-US" altLang="ko-KR" sz="1090" b="0">
                <a:solidFill>
                  <a:srgbClr val="28303C"/>
                </a:solidFill>
              </a:rPr>
              <a:t>0.7646 </a:t>
            </a:r>
            <a:r>
              <a:rPr lang="ko-KR" altLang="en-US" sz="1090" b="0">
                <a:solidFill>
                  <a:srgbClr val="28303C"/>
                </a:solidFill>
              </a:rPr>
              <a:t>이후 </a:t>
            </a:r>
            <a:r>
              <a:rPr lang="en-US" altLang="ko-KR" sz="1090" b="0">
                <a:solidFill>
                  <a:srgbClr val="28303C"/>
                </a:solidFill>
              </a:rPr>
              <a:t>0.8123</a:t>
            </a:r>
            <a:r>
              <a:rPr lang="ko-KR" altLang="en-US" sz="1090" b="0">
                <a:solidFill>
                  <a:srgbClr val="28303C"/>
                </a:solidFill>
              </a:rPr>
              <a:t>까지 증가함</a:t>
            </a:r>
            <a:r>
              <a:rPr lang="en-US" altLang="ko-KR" sz="1090" b="0">
                <a:solidFill>
                  <a:srgbClr val="28303C"/>
                </a:solidFill>
              </a:rPr>
              <a:t>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080" b="0">
                <a:solidFill>
                  <a:srgbClr val="28303C"/>
                </a:solidFill>
              </a:rPr>
              <a:t>• EarlyStopping(patience=3, restore_best_weights=True)</a:t>
            </a:r>
            <a:r>
              <a:rPr lang="ko-KR" altLang="en-US" sz="1080" b="0">
                <a:solidFill>
                  <a:srgbClr val="28303C"/>
                </a:solidFill>
              </a:rPr>
              <a:t>이 검증 손실 최저점인 </a:t>
            </a:r>
            <a:r>
              <a:rPr lang="en-US" altLang="ko-KR" sz="1080" b="0">
                <a:solidFill>
                  <a:srgbClr val="28303C"/>
                </a:solidFill>
              </a:rPr>
              <a:t>Epoch 2</a:t>
            </a:r>
            <a:r>
              <a:rPr lang="ko-KR" altLang="en-US" sz="1080" b="0">
                <a:solidFill>
                  <a:srgbClr val="28303C"/>
                </a:solidFill>
              </a:rPr>
              <a:t>의 가중치를 자동 복원해 최종 평가에 사용함</a:t>
            </a:r>
            <a:r>
              <a:rPr lang="en-US" altLang="ko-KR" sz="1080" b="0">
                <a:solidFill>
                  <a:srgbClr val="28303C"/>
                </a:solidFill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28C9B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53D"/>
                </a:solidFill>
              </a:rPr>
              <a:t>9. 테스트 데이터 평가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554480"/>
            <a:ext cx="4389120" cy="2011680"/>
          </a:xfrm>
          <a:prstGeom prst="roundRect">
            <a:avLst/>
          </a:prstGeom>
          <a:solidFill>
            <a:srgbClr val="F2F6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07008" y="1700784"/>
            <a:ext cx="398678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DE8B37"/>
                </a:solidFill>
              </a:rPr>
              <a:t>Test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7008" y="2057400"/>
            <a:ext cx="3986783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9253D"/>
                </a:solidFill>
              </a:rPr>
              <a:t>0.7462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2651760"/>
            <a:ext cx="398678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303C"/>
                </a:solidFill>
              </a:rPr>
              <a:t>20% test dataset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4389120" cy="2011680"/>
          </a:xfrm>
          <a:prstGeom prst="roundRect">
            <a:avLst/>
          </a:prstGeom>
          <a:solidFill>
            <a:srgbClr val="F2F6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01968" y="1700784"/>
            <a:ext cx="398678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9825B"/>
                </a:solidFill>
              </a:rPr>
              <a:t>Test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057400"/>
            <a:ext cx="3986783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9253D"/>
                </a:solidFill>
              </a:rPr>
              <a:t>66.86%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2651760"/>
            <a:ext cx="398678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303C"/>
                </a:solidFill>
              </a:rPr>
              <a:t>model.evaluate()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20" y="4160520"/>
            <a:ext cx="9326880" cy="1234440"/>
          </a:xfrm>
          <a:prstGeom prst="roundRect">
            <a:avLst/>
          </a:prstGeom>
          <a:solidFill>
            <a:srgbClr val="F6F8FA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581912" y="4270248"/>
            <a:ext cx="8997696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8303C"/>
                </a:solidFill>
                <a:latin typeface="Courier New"/>
              </a:rPr>
              <a:t>test_loss, test_accuracy = model.evaluate(
    X_test_padded, y_test, verbose=0
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28C9B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9253D"/>
                </a:solidFill>
              </a:rPr>
              <a:t>10. Sample 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0835640" cy="1234440"/>
          </a:xfrm>
          <a:prstGeom prst="roundRect">
            <a:avLst/>
          </a:prstGeom>
          <a:solidFill>
            <a:srgbClr val="F2F6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399032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8303C"/>
                </a:solidFill>
              </a:rPr>
              <a:t>Sample: "I absolutely love this product! It works amazingly well."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70811" y="1490472"/>
            <a:ext cx="146662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19253D"/>
                </a:solidFill>
              </a:rPr>
              <a:t>Positive</a:t>
            </a:r>
            <a:r>
              <a:rPr lang="ko-KR" altLang="en-US" sz="1600" b="1" dirty="0">
                <a:solidFill>
                  <a:srgbClr val="19253D"/>
                </a:solidFill>
              </a:rPr>
              <a:t> </a:t>
            </a:r>
            <a:r>
              <a:rPr lang="vi-VN" altLang="ko-KR" sz="1600" b="1" dirty="0">
                <a:solidFill>
                  <a:srgbClr val="19253D"/>
                </a:solidFill>
              </a:rPr>
              <a:t>Score</a:t>
            </a:r>
            <a:r>
              <a:rPr sz="1600" b="1" dirty="0">
                <a:solidFill>
                  <a:srgbClr val="19253D"/>
                </a:solidFill>
              </a:rPr>
              <a:t>
79.93%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834640"/>
            <a:ext cx="10835640" cy="1234440"/>
          </a:xfrm>
          <a:prstGeom prst="roundRect">
            <a:avLst/>
          </a:prstGeom>
          <a:solidFill>
            <a:srgbClr val="F2F6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999232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8303C"/>
                </a:solidFill>
              </a:rPr>
              <a:t>Sample: "The meeting was held as scheduled, and everything went normally."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79243" y="3090672"/>
            <a:ext cx="144975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19253D"/>
                </a:solidFill>
              </a:rPr>
              <a:t>Neutral</a:t>
            </a:r>
            <a:r>
              <a:rPr lang="vi-VN" sz="1600" b="1" dirty="0">
                <a:solidFill>
                  <a:srgbClr val="19253D"/>
                </a:solidFill>
              </a:rPr>
              <a:t> Score</a:t>
            </a:r>
            <a:r>
              <a:rPr sz="1600" b="1" dirty="0">
                <a:solidFill>
                  <a:srgbClr val="19253D"/>
                </a:solidFill>
              </a:rPr>
              <a:t>
75.73%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434840"/>
            <a:ext cx="10835640" cy="1234440"/>
          </a:xfrm>
          <a:prstGeom prst="roundRect">
            <a:avLst/>
          </a:prstGeom>
          <a:solidFill>
            <a:srgbClr val="F2F6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599431"/>
            <a:ext cx="8046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28303C"/>
                </a:solidFill>
              </a:rPr>
              <a:t>Sample: "The service was terrible and I will never use it again."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3778" y="4690872"/>
            <a:ext cx="156068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dirty="0">
                <a:solidFill>
                  <a:srgbClr val="19253D"/>
                </a:solidFill>
              </a:rPr>
              <a:t>Negative</a:t>
            </a:r>
            <a:r>
              <a:rPr lang="vi-VN" sz="1600" b="1" dirty="0">
                <a:solidFill>
                  <a:srgbClr val="19253D"/>
                </a:solidFill>
              </a:rPr>
              <a:t> Score</a:t>
            </a:r>
            <a:r>
              <a:rPr sz="1600" b="1" dirty="0">
                <a:solidFill>
                  <a:srgbClr val="19253D"/>
                </a:solidFill>
              </a:rPr>
              <a:t>
70.58%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989320"/>
            <a:ext cx="10058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1100" b="0" i="0" u="none" strike="noStrike" dirty="0">
                <a:solidFill>
                  <a:srgbClr val="000000"/>
                </a:solidFill>
                <a:effectLst/>
              </a:rPr>
              <a:t>※ </a:t>
            </a:r>
            <a:r>
              <a:rPr lang="ko-KR" altLang="en-US" sz="1100" b="0" i="0" u="none" strike="noStrike" dirty="0">
                <a:solidFill>
                  <a:srgbClr val="000000"/>
                </a:solidFill>
                <a:effectLst/>
              </a:rPr>
              <a:t>공식 테스트 데이터</a:t>
            </a:r>
            <a:r>
              <a:rPr lang="en-US" altLang="ko-KR" sz="1100" b="0" i="0" u="none" strike="noStrike" dirty="0">
                <a:solidFill>
                  <a:srgbClr val="000000"/>
                </a:solidFill>
                <a:effectLst/>
              </a:rPr>
              <a:t>(20%) </a:t>
            </a:r>
            <a:r>
              <a:rPr lang="ko-KR" altLang="en-US" sz="1100" b="0" i="0" u="none" strike="noStrike" dirty="0">
                <a:solidFill>
                  <a:srgbClr val="000000"/>
                </a:solidFill>
                <a:effectLst/>
              </a:rPr>
              <a:t>평가와 별도로</a:t>
            </a:r>
            <a:r>
              <a:rPr lang="en-US" altLang="ko-KR" sz="1100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ko-KR" altLang="en-US" sz="1100" b="0" i="0" u="none" strike="noStrike" dirty="0">
                <a:solidFill>
                  <a:srgbClr val="000000"/>
                </a:solidFill>
                <a:effectLst/>
              </a:rPr>
              <a:t>추가 샘플에 대한 예측 결과입니다</a:t>
            </a:r>
            <a:r>
              <a:rPr lang="en-US" altLang="ko-KR" sz="1100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28C9B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800" b="1">
                <a:solidFill>
                  <a:srgbClr val="19253D"/>
                </a:solidFill>
              </a:rPr>
              <a:t>11. 한계점 및 향후 개선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5166360" cy="4892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3D70C4"/>
                </a:solidFill>
              </a:rPr>
              <a:t>[현재 모델의 한계점]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9253D"/>
                </a:solidFill>
              </a:rPr>
              <a:t>1. 단순 정수 인코딩 및 스크래치 임베딩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>
                <a:solidFill>
                  <a:srgbClr val="28303C"/>
                </a:solidFill>
              </a:rPr>
              <a:t>사전 학습(Pre-trained) 임베딩을 사용하지 않아 단어 간 의미론적 유사도 반영에 한계가 있음.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1">
                <a:solidFill>
                  <a:srgbClr val="19253D"/>
                </a:solidFill>
              </a:rPr>
              <a:t>2. 클래스 불균형 영향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28303C"/>
                </a:solidFill>
              </a:rPr>
              <a:t>Negative 데이터 수가 적어 미묘한 부정 표현에 대한 예측 신뢰도가 다소 낮음.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80760" y="1234440"/>
            <a:ext cx="18288" cy="4526280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143000"/>
            <a:ext cx="5074920" cy="4892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</a:pPr>
            <a:r>
              <a:rPr sz="1800" b="1">
                <a:solidFill>
                  <a:srgbClr val="39825B"/>
                </a:solidFill>
              </a:rPr>
              <a:t>[향후 개선 방향]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20" b="1">
                <a:solidFill>
                  <a:srgbClr val="19253D"/>
                </a:solidFill>
              </a:rPr>
              <a:t>1. Pre-trained Language Model 도입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10" b="0">
                <a:solidFill>
                  <a:srgbClr val="28303C"/>
                </a:solidFill>
              </a:rPr>
              <a:t>BERT, RoBERTa(Twitter-RoBERTa) 등 Transformer 기반 모델로 전이 학습(Transfer Learning) 적용 시 70% 이상의 정확도 기대.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20" b="1">
                <a:solidFill>
                  <a:srgbClr val="19253D"/>
                </a:solidFill>
              </a:rPr>
              <a:t>2. 손실 함수 개선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10" b="0">
                <a:solidFill>
                  <a:srgbClr val="28303C"/>
                </a:solidFill>
              </a:rPr>
              <a:t>불균형 해소를 위해 'class_weight' 적용 또는 Focal Loss 활용.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420" b="1">
                <a:solidFill>
                  <a:srgbClr val="19253D"/>
                </a:solidFill>
              </a:rPr>
              <a:t>3. 세부 평가 지표 추가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10" b="0">
                <a:solidFill>
                  <a:srgbClr val="28303C"/>
                </a:solidFill>
              </a:rPr>
              <a:t>단순 Accuracy 외에 F1-Score(Macro/Weighted) 및 Confusion Matrix를 통한 정밀 평가.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  <a:spcAft>
                <a:spcPts val="900"/>
              </a:spcAft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>
                <a:solidFill>
                  <a:srgbClr val="828C9B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2800" b="1">
                <a:solidFill>
                  <a:srgbClr val="19253D"/>
                </a:solidFill>
              </a:rPr>
              <a:t>12</a:t>
            </a:r>
            <a:r>
              <a:rPr sz="2800" b="1">
                <a:solidFill>
                  <a:srgbClr val="19253D"/>
                </a:solidFill>
              </a:rPr>
              <a:t>. 느낀 점 및 참고자료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6400800" cy="26053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defRPr sz="1600">
                <a:solidFill>
                  <a:srgbClr val="28303C"/>
                </a:solidFill>
              </a:defRPr>
            </a:pPr>
            <a:r>
              <a:rPr lang="en-US" altLang="ko-KR" sz="1700" b="1">
                <a:solidFill>
                  <a:srgbClr val="3D70C4"/>
                </a:solidFill>
              </a:rPr>
              <a:t>[</a:t>
            </a:r>
            <a:r>
              <a:rPr lang="ko-KR" altLang="en-US" sz="1700" b="1">
                <a:solidFill>
                  <a:srgbClr val="3D70C4"/>
                </a:solidFill>
              </a:rPr>
              <a:t>느낀 점 및 배운 점</a:t>
            </a:r>
            <a:r>
              <a:rPr lang="en-US" altLang="ko-KR" sz="1700" b="1">
                <a:solidFill>
                  <a:srgbClr val="3D70C4"/>
                </a:solidFill>
              </a:rPr>
              <a:t>]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lang="en-US" altLang="ko-KR" sz="1270" b="1">
                <a:solidFill>
                  <a:srgbClr val="19253D"/>
                </a:solidFill>
              </a:rPr>
              <a:t>1. </a:t>
            </a:r>
            <a:r>
              <a:rPr lang="ko-KR" altLang="en-US" sz="1270" b="1">
                <a:solidFill>
                  <a:srgbClr val="19253D"/>
                </a:solidFill>
              </a:rPr>
              <a:t>딥러닝 자연어 처리 파이프라인의 전 과정 이해</a:t>
            </a:r>
          </a:p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lang="ko-KR" altLang="en-US" sz="1050" b="0">
                <a:solidFill>
                  <a:srgbClr val="28303C"/>
                </a:solidFill>
              </a:rPr>
              <a:t>텍스트 토큰화</a:t>
            </a:r>
            <a:r>
              <a:rPr lang="en-US" altLang="ko-KR" sz="1050" b="0">
                <a:solidFill>
                  <a:srgbClr val="28303C"/>
                </a:solidFill>
              </a:rPr>
              <a:t>, </a:t>
            </a:r>
            <a:r>
              <a:rPr lang="ko-KR" altLang="en-US" sz="1050" b="0">
                <a:solidFill>
                  <a:srgbClr val="28303C"/>
                </a:solidFill>
              </a:rPr>
              <a:t>시퀀스 패딩부터 </a:t>
            </a:r>
            <a:r>
              <a:rPr lang="en-US" altLang="ko-KR" sz="1050" b="0">
                <a:solidFill>
                  <a:srgbClr val="28303C"/>
                </a:solidFill>
              </a:rPr>
              <a:t>Bi-LSTM </a:t>
            </a:r>
            <a:r>
              <a:rPr lang="ko-KR" altLang="en-US" sz="1050" b="0">
                <a:solidFill>
                  <a:srgbClr val="28303C"/>
                </a:solidFill>
              </a:rPr>
              <a:t>모델 구축</a:t>
            </a:r>
            <a:r>
              <a:rPr lang="en-US" altLang="ko-KR" sz="1050" b="0">
                <a:solidFill>
                  <a:srgbClr val="28303C"/>
                </a:solidFill>
              </a:rPr>
              <a:t>, </a:t>
            </a:r>
            <a:r>
              <a:rPr lang="ko-KR" altLang="en-US" sz="1050" b="0">
                <a:solidFill>
                  <a:srgbClr val="28303C"/>
                </a:solidFill>
              </a:rPr>
              <a:t>하이퍼파라미터 튜닝까지 전체 실무 워크플로우를 직접 구현하며 이해도를 크게 높일 수 있었습니다</a:t>
            </a:r>
            <a:r>
              <a:rPr lang="en-US" altLang="ko-KR" sz="1050" b="0">
                <a:solidFill>
                  <a:srgbClr val="28303C"/>
                </a:solidFill>
              </a:rPr>
              <a:t>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lang="en-US" altLang="ko-KR" sz="1270" b="1">
                <a:solidFill>
                  <a:srgbClr val="19253D"/>
                </a:solidFill>
              </a:rPr>
              <a:t>2. </a:t>
            </a:r>
            <a:r>
              <a:rPr lang="ko-KR" altLang="en-US" sz="1270" b="1">
                <a:solidFill>
                  <a:srgbClr val="19253D"/>
                </a:solidFill>
              </a:rPr>
              <a:t>과적합 방지 기법의 중요성 체감</a:t>
            </a:r>
          </a:p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lang="ko-KR" altLang="en-US" sz="1050" b="0">
                <a:solidFill>
                  <a:srgbClr val="28303C"/>
                </a:solidFill>
              </a:rPr>
              <a:t>이론으로만 접했던 </a:t>
            </a:r>
            <a:r>
              <a:rPr lang="en-US" altLang="ko-KR" sz="1050" b="0">
                <a:solidFill>
                  <a:srgbClr val="28303C"/>
                </a:solidFill>
              </a:rPr>
              <a:t>SpatialDropout1D, L2 </a:t>
            </a:r>
            <a:r>
              <a:rPr lang="ko-KR" altLang="en-US" sz="1050" b="0">
                <a:solidFill>
                  <a:srgbClr val="28303C"/>
                </a:solidFill>
              </a:rPr>
              <a:t>규제</a:t>
            </a:r>
            <a:r>
              <a:rPr lang="en-US" altLang="ko-KR" sz="1050" b="0">
                <a:solidFill>
                  <a:srgbClr val="28303C"/>
                </a:solidFill>
              </a:rPr>
              <a:t>, EarlyStopping</a:t>
            </a:r>
            <a:r>
              <a:rPr lang="ko-KR" altLang="en-US" sz="1050" b="0">
                <a:solidFill>
                  <a:srgbClr val="28303C"/>
                </a:solidFill>
              </a:rPr>
              <a:t>이 실제 훈련 손실을 통제하는 과정을 모니터링하며 정규화</a:t>
            </a:r>
            <a:r>
              <a:rPr lang="en-US" altLang="ko-KR" sz="1050" b="0">
                <a:solidFill>
                  <a:srgbClr val="28303C"/>
                </a:solidFill>
              </a:rPr>
              <a:t>(Regularization) </a:t>
            </a:r>
            <a:r>
              <a:rPr lang="ko-KR" altLang="en-US" sz="1050" b="0">
                <a:solidFill>
                  <a:srgbClr val="28303C"/>
                </a:solidFill>
              </a:rPr>
              <a:t>기법의 필요성을 깊이 체감했습니다</a:t>
            </a:r>
            <a:r>
              <a:rPr lang="en-US" altLang="ko-KR" sz="1050" b="0">
                <a:solidFill>
                  <a:srgbClr val="28303C"/>
                </a:solidFill>
              </a:rPr>
              <a:t>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lang="en-US" altLang="ko-KR" sz="1270" b="1">
                <a:solidFill>
                  <a:srgbClr val="19253D"/>
                </a:solidFill>
              </a:rPr>
              <a:t>3. </a:t>
            </a:r>
            <a:r>
              <a:rPr lang="ko-KR" altLang="en-US" sz="1270" b="1">
                <a:solidFill>
                  <a:srgbClr val="19253D"/>
                </a:solidFill>
              </a:rPr>
              <a:t>모델 아키텍처의 한계와 발전 방향 인식</a:t>
            </a:r>
          </a:p>
          <a:p>
            <a:pPr algn="l">
              <a:lnSpc>
                <a:spcPct val="98000"/>
              </a:lnSpc>
              <a:spcAft>
                <a:spcPts val="400"/>
              </a:spcAft>
            </a:pPr>
            <a:r>
              <a:rPr lang="en-US" altLang="ko-KR" sz="1050" b="0">
                <a:solidFill>
                  <a:srgbClr val="28303C"/>
                </a:solidFill>
              </a:rPr>
              <a:t>LSTM </a:t>
            </a:r>
            <a:r>
              <a:rPr lang="ko-KR" altLang="en-US" sz="1050" b="0">
                <a:solidFill>
                  <a:srgbClr val="28303C"/>
                </a:solidFill>
              </a:rPr>
              <a:t>계열 모델이 문맥 파악에 우수하지만</a:t>
            </a:r>
            <a:r>
              <a:rPr lang="en-US" altLang="ko-KR" sz="1050" b="0">
                <a:solidFill>
                  <a:srgbClr val="28303C"/>
                </a:solidFill>
              </a:rPr>
              <a:t>, </a:t>
            </a:r>
            <a:r>
              <a:rPr lang="ko-KR" altLang="en-US" sz="1050" b="0">
                <a:solidFill>
                  <a:srgbClr val="28303C"/>
                </a:solidFill>
              </a:rPr>
              <a:t>소셜 텍스트의 복잡한 뉘앙스를 완벽히 포착하기 위해서는 향후 사전 학습된 </a:t>
            </a:r>
            <a:r>
              <a:rPr lang="en-US" altLang="ko-KR" sz="1050" b="0">
                <a:solidFill>
                  <a:srgbClr val="28303C"/>
                </a:solidFill>
              </a:rPr>
              <a:t>Transformer </a:t>
            </a:r>
            <a:r>
              <a:rPr lang="ko-KR" altLang="en-US" sz="1050" b="0">
                <a:solidFill>
                  <a:srgbClr val="28303C"/>
                </a:solidFill>
              </a:rPr>
              <a:t>모델</a:t>
            </a:r>
            <a:r>
              <a:rPr lang="en-US" altLang="ko-KR" sz="1050" b="0">
                <a:solidFill>
                  <a:srgbClr val="28303C"/>
                </a:solidFill>
              </a:rPr>
              <a:t>(BERT </a:t>
            </a:r>
            <a:r>
              <a:rPr lang="ko-KR" altLang="en-US" sz="1050" b="0">
                <a:solidFill>
                  <a:srgbClr val="28303C"/>
                </a:solidFill>
              </a:rPr>
              <a:t>등</a:t>
            </a:r>
            <a:r>
              <a:rPr lang="en-US" altLang="ko-KR" sz="1050" b="0">
                <a:solidFill>
                  <a:srgbClr val="28303C"/>
                </a:solidFill>
              </a:rPr>
              <a:t>)</a:t>
            </a:r>
            <a:r>
              <a:rPr lang="ko-KR" altLang="en-US" sz="1050" b="0">
                <a:solidFill>
                  <a:srgbClr val="28303C"/>
                </a:solidFill>
              </a:rPr>
              <a:t>의 활용이 필수적임을 깨달았습니다</a:t>
            </a:r>
            <a:r>
              <a:rPr lang="en-US" altLang="ko-KR" sz="1050" b="0">
                <a:solidFill>
                  <a:srgbClr val="28303C"/>
                </a:solidFill>
              </a:rPr>
              <a:t>.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lang="en-US" altLang="ko-KR" sz="1270" b="1">
                <a:solidFill>
                  <a:srgbClr val="19253D"/>
                </a:solidFill>
              </a:rPr>
              <a:t>4. AI </a:t>
            </a:r>
            <a:r>
              <a:rPr lang="ko-KR" altLang="en-US" sz="1270" b="1">
                <a:solidFill>
                  <a:srgbClr val="19253D"/>
                </a:solidFill>
              </a:rPr>
              <a:t>도구 활용에 대한 고찰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lang="en-US" altLang="ko-KR" sz="1050" b="0">
                <a:solidFill>
                  <a:srgbClr val="28303C"/>
                </a:solidFill>
              </a:rPr>
              <a:t>Google Gemini</a:t>
            </a:r>
            <a:r>
              <a:rPr lang="ko-KR" altLang="en-US" sz="1050" b="0">
                <a:solidFill>
                  <a:srgbClr val="28303C"/>
                </a:solidFill>
              </a:rPr>
              <a:t>와 </a:t>
            </a:r>
            <a:r>
              <a:rPr lang="en-US" altLang="ko-KR" sz="1050" b="0">
                <a:solidFill>
                  <a:srgbClr val="28303C"/>
                </a:solidFill>
              </a:rPr>
              <a:t>ChatGPT</a:t>
            </a:r>
            <a:r>
              <a:rPr lang="ko-KR" altLang="en-US" sz="1050" b="0">
                <a:solidFill>
                  <a:srgbClr val="28303C"/>
                </a:solidFill>
              </a:rPr>
              <a:t>를 활용하여 전처리 로직 및 디버깅 시간을 단축할 수 있었으나</a:t>
            </a:r>
            <a:r>
              <a:rPr lang="en-US" altLang="ko-KR" sz="1050" b="0">
                <a:solidFill>
                  <a:srgbClr val="28303C"/>
                </a:solidFill>
              </a:rPr>
              <a:t>, </a:t>
            </a:r>
            <a:r>
              <a:rPr lang="ko-KR" altLang="en-US" sz="1050" b="0">
                <a:solidFill>
                  <a:srgbClr val="28303C"/>
                </a:solidFill>
              </a:rPr>
              <a:t>모델 구조 설계와 결과 분석은 본인의 주도적 검증이 반드시 필요함을 배웠습니다</a:t>
            </a:r>
            <a:r>
              <a:rPr lang="en-US" altLang="ko-KR" sz="1050" b="0">
                <a:solidFill>
                  <a:srgbClr val="28303C"/>
                </a:solidFill>
              </a:rPr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60920" y="1143000"/>
            <a:ext cx="4160520" cy="4754880"/>
          </a:xfrm>
          <a:prstGeom prst="roundRect">
            <a:avLst/>
          </a:prstGeom>
          <a:solidFill>
            <a:srgbClr val="F2F6FB"/>
          </a:solidFill>
          <a:ln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635240" y="1389888"/>
            <a:ext cx="3611880" cy="17135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lang="en-US" altLang="ko-KR" sz="1550" b="1">
                <a:solidFill>
                  <a:srgbClr val="19253D"/>
                </a:solidFill>
              </a:rPr>
              <a:t>[</a:t>
            </a:r>
            <a:r>
              <a:rPr lang="ko-KR" altLang="en-US" sz="1550" b="1">
                <a:solidFill>
                  <a:srgbClr val="19253D"/>
                </a:solidFill>
              </a:rPr>
              <a:t>참고자료 </a:t>
            </a:r>
            <a:r>
              <a:rPr lang="en-US" altLang="ko-KR" sz="1550" b="1">
                <a:solidFill>
                  <a:srgbClr val="19253D"/>
                </a:solidFill>
              </a:rPr>
              <a:t>(</a:t>
            </a:r>
            <a:r>
              <a:rPr lang="en-US" sz="1550" b="1">
                <a:solidFill>
                  <a:srgbClr val="19253D"/>
                </a:solidFill>
              </a:rPr>
              <a:t>References)]</a:t>
            </a:r>
            <a:endParaRPr lang="en-US" sz="1600" b="1">
              <a:solidFill>
                <a:srgbClr val="19253D"/>
              </a:solidFill>
            </a:endParaRPr>
          </a:p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lang="en-US" sz="930" b="0">
                <a:solidFill>
                  <a:srgbClr val="28303C"/>
                </a:solidFill>
              </a:rPr>
              <a:t>1. Barbieri, F., et al. (2020). “TweetEval: Unified Benchmark and Comparative Evaluation for Tweet Classification.” Findings of EMNLP 2020.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lang="en-US" sz="869" b="0">
                <a:solidFill>
                  <a:srgbClr val="3D70C4"/>
                </a:solidFill>
              </a:rPr>
              <a:t>Dataset URL: https://huggingface.co/datasets/cardiffnlp/tweet_eval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lang="en-US" sz="930" b="0">
                <a:solidFill>
                  <a:srgbClr val="28303C"/>
                </a:solidFill>
              </a:rPr>
              <a:t>2. Hochreiter, S., &amp; Schmidhuber, J. (1997). “Long Short-Term Memory.” Neural Computation, 9(8), 1735–1780.</a:t>
            </a:r>
          </a:p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lang="en-US" sz="930" b="0">
                <a:solidFill>
                  <a:srgbClr val="28303C"/>
                </a:solidFill>
              </a:rPr>
              <a:t>3. Schuster, M., &amp; Paliwal, K. K. (1997). “Bidirectional recurrent neural networks.” IEEE Transactions on Signal Processing, 45(11), 2673–2681.</a:t>
            </a:r>
          </a:p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lang="en-US" sz="930" b="0">
                <a:solidFill>
                  <a:srgbClr val="28303C"/>
                </a:solidFill>
              </a:rPr>
              <a:t>4. TensorFlow &amp; Keras Official Documentation: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lang="en-US" sz="869" b="0">
                <a:solidFill>
                  <a:srgbClr val="3D70C4"/>
                </a:solidFill>
              </a:rPr>
              <a:t>https://www.tensorflow.org/api_docs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0" y="6510528"/>
            <a:ext cx="731520" cy="1384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lang="en-US" sz="900">
                <a:solidFill>
                  <a:srgbClr val="828C9B"/>
                </a:solidFill>
              </a:rPr>
              <a:t>13</a:t>
            </a:r>
            <a:endParaRPr sz="900">
              <a:solidFill>
                <a:srgbClr val="828C9B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5971032"/>
            <a:ext cx="10744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>
                <a:solidFill>
                  <a:srgbClr val="626D7A"/>
                </a:solidFill>
              </a:rPr>
              <a:t>※ 본 과제 작성 및 코드 구현, 결과 분석 과정에서 Google Gemini 및 ChatGPT를 활용하였습니다.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5513</TotalTime>
  <Words>1341</Words>
  <Application>Microsoft Office PowerPoint</Application>
  <PresentationFormat>Widescreen</PresentationFormat>
  <Paragraphs>199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Noto Sans KR</vt:lpstr>
      <vt:lpstr>Aptos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Nguyen Quang Hao</cp:lastModifiedBy>
  <cp:revision>5</cp:revision>
  <dcterms:created xsi:type="dcterms:W3CDTF">2013-01-27T09:14:16Z</dcterms:created>
  <dcterms:modified xsi:type="dcterms:W3CDTF">2026-10-10T04:15:34Z</dcterms:modified>
  <cp:category/>
</cp:coreProperties>
</file>